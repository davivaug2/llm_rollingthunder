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Economica"/>
      <p:regular r:id="rId14"/>
      <p:bold r:id="rId15"/>
      <p:italic r:id="rId16"/>
      <p:boldItalic r:id="rId17"/>
    </p:embeddedFont>
    <p:embeddedFont>
      <p:font typeface="Open Sans"/>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OpenSans-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Economica-bold.fntdata"/><Relationship Id="rId14" Type="http://schemas.openxmlformats.org/officeDocument/2006/relationships/font" Target="fonts/Economica-regular.fntdata"/><Relationship Id="rId17" Type="http://schemas.openxmlformats.org/officeDocument/2006/relationships/font" Target="fonts/Economica-boldItalic.fntdata"/><Relationship Id="rId16" Type="http://schemas.openxmlformats.org/officeDocument/2006/relationships/font" Target="fonts/Economica-italic.fntdata"/><Relationship Id="rId5" Type="http://schemas.openxmlformats.org/officeDocument/2006/relationships/notesMaster" Target="notesMasters/notesMaster1.xml"/><Relationship Id="rId19" Type="http://schemas.openxmlformats.org/officeDocument/2006/relationships/font" Target="fonts/OpenSans-bold.fntdata"/><Relationship Id="rId6" Type="http://schemas.openxmlformats.org/officeDocument/2006/relationships/slide" Target="slides/slide1.xml"/><Relationship Id="rId18" Type="http://schemas.openxmlformats.org/officeDocument/2006/relationships/font" Target="fonts/OpenSans-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87007c2c1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287007c2c1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87007c2c1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g287007c2c15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87007c2c1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g287007c2c15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87bc71f48f_0_1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g287bc71f48f_0_17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151">
                <a:solidFill>
                  <a:schemeClr val="dk1"/>
                </a:solidFill>
                <a:latin typeface="Open Sans"/>
                <a:ea typeface="Open Sans"/>
                <a:cs typeface="Open Sans"/>
                <a:sym typeface="Open Sans"/>
              </a:rPr>
              <a:t>Our source data is the AF-TO pdfs, stored on github.</a:t>
            </a:r>
            <a:endParaRPr sz="2151">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sz="2151">
                <a:solidFill>
                  <a:schemeClr val="dk1"/>
                </a:solidFill>
                <a:latin typeface="Open Sans"/>
                <a:ea typeface="Open Sans"/>
                <a:cs typeface="Open Sans"/>
                <a:sym typeface="Open Sans"/>
              </a:rPr>
              <a:t>This data is split into smaller pieces and converted into vectors, called embeddings. These embeddings are then stored into a vector database.</a:t>
            </a:r>
            <a:endParaRPr sz="2151">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sz="2151">
                <a:solidFill>
                  <a:schemeClr val="dk1"/>
                </a:solidFill>
                <a:latin typeface="Open Sans"/>
                <a:ea typeface="Open Sans"/>
                <a:cs typeface="Open Sans"/>
                <a:sym typeface="Open Sans"/>
              </a:rPr>
              <a:t>User questions are then converted into embeddings, and are compared to the database to retrieve relevant answers.</a:t>
            </a:r>
            <a:endParaRPr sz="2151">
              <a:solidFill>
                <a:schemeClr val="dk1"/>
              </a:solidFill>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87bc71f48f_0_1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g287bc71f48f_0_17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latin typeface="Open Sans"/>
                <a:ea typeface="Open Sans"/>
                <a:cs typeface="Open Sans"/>
                <a:sym typeface="Open Sans"/>
              </a:rPr>
              <a:t>Fine tuning is updating the weights of a pre-trained model on a new task and dataset. </a:t>
            </a:r>
            <a:endParaRPr sz="2000">
              <a:solidFill>
                <a:schemeClr val="dk1"/>
              </a:solidFill>
              <a:latin typeface="Open Sans"/>
              <a:ea typeface="Open Sans"/>
              <a:cs typeface="Open Sans"/>
              <a:sym typeface="Open Sans"/>
            </a:endParaRPr>
          </a:p>
          <a:p>
            <a:pPr indent="0" lvl="0" marL="0" rtl="0" algn="l">
              <a:spcBef>
                <a:spcPts val="0"/>
              </a:spcBef>
              <a:spcAft>
                <a:spcPts val="0"/>
              </a:spcAft>
              <a:buNone/>
            </a:pPr>
            <a:r>
              <a:rPr lang="en" sz="2000">
                <a:solidFill>
                  <a:schemeClr val="dk1"/>
                </a:solidFill>
                <a:latin typeface="Open Sans"/>
                <a:ea typeface="Open Sans"/>
                <a:cs typeface="Open Sans"/>
                <a:sym typeface="Open Sans"/>
              </a:rPr>
              <a:t>The LLM is fine-tuned using a Labeled dataset that consist of questions and answers. These Q-As train the model on what a proper or valid output to the requested input would be.</a:t>
            </a:r>
            <a:endParaRPr sz="2000">
              <a:solidFill>
                <a:schemeClr val="dk1"/>
              </a:solidFill>
              <a:latin typeface="Open Sans"/>
              <a:ea typeface="Open Sans"/>
              <a:cs typeface="Open Sans"/>
              <a:sym typeface="Open Sans"/>
            </a:endParaRPr>
          </a:p>
          <a:p>
            <a:pPr indent="0" lvl="0" marL="0" rtl="0" algn="l">
              <a:spcBef>
                <a:spcPts val="0"/>
              </a:spcBef>
              <a:spcAft>
                <a:spcPts val="0"/>
              </a:spcAft>
              <a:buNone/>
            </a:pPr>
            <a:r>
              <a:rPr lang="en" sz="2000">
                <a:solidFill>
                  <a:schemeClr val="dk1"/>
                </a:solidFill>
                <a:latin typeface="Open Sans"/>
                <a:ea typeface="Open Sans"/>
                <a:cs typeface="Open Sans"/>
                <a:sym typeface="Open Sans"/>
              </a:rPr>
              <a:t>Instead of adjusting each parameter in the model, Parameter-Efficient Fine-Tuning (PEFT) methods focus on training a select group of parameters. These methods are efficient, greatly reducing both the computational and storage costs.</a:t>
            </a:r>
            <a:endParaRPr sz="2000">
              <a:solidFill>
                <a:schemeClr val="dk1"/>
              </a:solidFill>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87bc71f48f_0_1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87bc71f48f_0_1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Falcon 7B and a tokenizer, from Hugging Face. Tokenizer prepares the inputs for the model, turns data into </a:t>
            </a:r>
            <a:r>
              <a:rPr lang="en"/>
              <a:t>tokens</a:t>
            </a:r>
            <a:r>
              <a:rPr lang="en"/>
              <a:t>. </a:t>
            </a:r>
            <a:endParaRPr/>
          </a:p>
          <a:p>
            <a:pPr indent="0" lvl="0" marL="0" rtl="0" algn="l">
              <a:spcBef>
                <a:spcPts val="0"/>
              </a:spcBef>
              <a:spcAft>
                <a:spcPts val="0"/>
              </a:spcAft>
              <a:buNone/>
            </a:pPr>
            <a:r>
              <a:rPr lang="en"/>
              <a:t>We went with the Falcon 7B model as it performs well when compared to other open-source models like MPT-7B and StableLM. As it is made available with the Apache 2.0 license, it is usable without royalties or restrictions. </a:t>
            </a:r>
            <a:endParaRPr/>
          </a:p>
          <a:p>
            <a:pPr indent="0" lvl="0" marL="0" rtl="0" algn="l">
              <a:spcBef>
                <a:spcPts val="0"/>
              </a:spcBef>
              <a:spcAft>
                <a:spcPts val="0"/>
              </a:spcAft>
              <a:buNone/>
            </a:pPr>
            <a:r>
              <a:rPr lang="en"/>
              <a:t>It requires 16 GB of memory, so it’s a good middle ground </a:t>
            </a:r>
            <a:r>
              <a:rPr lang="en"/>
              <a:t>for performance and usability. The Falcon 7B Model is also meant to be fine tuned for most usecases, making it the perfect fit for our project.</a:t>
            </a:r>
            <a:endParaRPr/>
          </a:p>
          <a:p>
            <a:pPr indent="0" lvl="0" marL="0" rtl="0" algn="l">
              <a:spcBef>
                <a:spcPts val="0"/>
              </a:spcBef>
              <a:spcAft>
                <a:spcPts val="0"/>
              </a:spcAft>
              <a:buNone/>
            </a:pPr>
            <a:r>
              <a:rPr lang="en"/>
              <a:t>Facebook AI Similarity Search, for the </a:t>
            </a:r>
            <a:r>
              <a:rPr lang="en"/>
              <a:t>vector</a:t>
            </a:r>
            <a:r>
              <a:rPr lang="en"/>
              <a:t> database, from META.</a:t>
            </a:r>
            <a:endParaRPr/>
          </a:p>
          <a:p>
            <a:pPr indent="0" lvl="0" marL="0" rtl="0" algn="l">
              <a:spcBef>
                <a:spcPts val="0"/>
              </a:spcBef>
              <a:spcAft>
                <a:spcPts val="0"/>
              </a:spcAft>
              <a:buNone/>
            </a:pPr>
            <a:r>
              <a:rPr lang="en"/>
              <a:t>LangChain, to vectorize and index the database.</a:t>
            </a:r>
            <a:endParaRPr/>
          </a:p>
          <a:p>
            <a:pPr indent="0" lvl="0" marL="0" rtl="0" algn="l">
              <a:spcBef>
                <a:spcPts val="0"/>
              </a:spcBef>
              <a:spcAft>
                <a:spcPts val="0"/>
              </a:spcAft>
              <a:buNone/>
            </a:pPr>
            <a:r>
              <a:rPr lang="en"/>
              <a:t>React, for frontend implementation.</a:t>
            </a:r>
            <a:endParaRPr/>
          </a:p>
          <a:p>
            <a:pPr indent="0" lvl="0" marL="0" rtl="0" algn="l">
              <a:spcBef>
                <a:spcPts val="0"/>
              </a:spcBef>
              <a:spcAft>
                <a:spcPts val="0"/>
              </a:spcAft>
              <a:buNone/>
            </a:pPr>
            <a:r>
              <a:rPr lang="en"/>
              <a:t>GitHub and Google Colab, for code </a:t>
            </a:r>
            <a:r>
              <a:rPr lang="en"/>
              <a:t>development.</a:t>
            </a:r>
            <a:endParaRPr/>
          </a:p>
          <a:p>
            <a:pPr indent="0" lvl="0" marL="0" rtl="0" algn="l">
              <a:spcBef>
                <a:spcPts val="0"/>
              </a:spcBef>
              <a:spcAft>
                <a:spcPts val="0"/>
              </a:spcAft>
              <a:buNone/>
            </a:pPr>
            <a:r>
              <a:rPr lang="en"/>
              <a:t>TTU High Performance Computing Center (HPCC), to run and fine tune the falcon model.</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87007c2c15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287007c2c15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AF-TOs contain a large amount of information, from technical definitions and explanations, to disclosures and other things pertaining to legality. One thing that was emphasized in our interviews was to prioritize returning correct definitions and explanations, rather than the disclosures and other related </a:t>
            </a:r>
            <a:r>
              <a:rPr lang="en"/>
              <a:t>things.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We also discussed using Retrieval Augmented Generation, RAG, as the primary means of ordering our data. RAG will allow the LLM to search through a database for information related to the user’s question.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The last thing of importance in our interview was implementing a user guide on the webpage for the LLM. This would instruct the user on the proper syntax and guidelines for asking a question, one of these being to only ask one question at a time.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As a “stretch goal”, we discussed implementing an “Access Level” tool. This would allow the user to select some level of classification or access that they have, and would answer questions related to the documents they have access to. It was said to implement this as a proof of concept, having the user select which level of access they have rather than restricting it by an ID/Password system.</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87007c2c15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g287007c2c15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a:lvl1pPr>
            <a:lvl2pPr lvl="1" rtl="0" algn="ctr">
              <a:spcBef>
                <a:spcPts val="0"/>
              </a:spcBef>
              <a:spcAft>
                <a:spcPts val="0"/>
              </a:spcAft>
              <a:buSzPts val="4200"/>
              <a:buNone/>
              <a:defRPr/>
            </a:lvl2pPr>
            <a:lvl3pPr lvl="2" rtl="0" algn="ctr">
              <a:spcBef>
                <a:spcPts val="0"/>
              </a:spcBef>
              <a:spcAft>
                <a:spcPts val="0"/>
              </a:spcAft>
              <a:buSzPts val="4200"/>
              <a:buNone/>
              <a:defRPr/>
            </a:lvl3pPr>
            <a:lvl4pPr lvl="3" rtl="0" algn="ctr">
              <a:spcBef>
                <a:spcPts val="0"/>
              </a:spcBef>
              <a:spcAft>
                <a:spcPts val="0"/>
              </a:spcAft>
              <a:buSzPts val="4200"/>
              <a:buNone/>
              <a:defRPr/>
            </a:lvl4pPr>
            <a:lvl5pPr lvl="4" rtl="0" algn="ctr">
              <a:spcBef>
                <a:spcPts val="0"/>
              </a:spcBef>
              <a:spcAft>
                <a:spcPts val="0"/>
              </a:spcAft>
              <a:buSzPts val="4200"/>
              <a:buNone/>
              <a:defRPr/>
            </a:lvl5pPr>
            <a:lvl6pPr lvl="5" rtl="0" algn="ctr">
              <a:spcBef>
                <a:spcPts val="0"/>
              </a:spcBef>
              <a:spcAft>
                <a:spcPts val="0"/>
              </a:spcAft>
              <a:buSzPts val="4200"/>
              <a:buNone/>
              <a:defRPr/>
            </a:lvl6pPr>
            <a:lvl7pPr lvl="6" rtl="0" algn="ctr">
              <a:spcBef>
                <a:spcPts val="0"/>
              </a:spcBef>
              <a:spcAft>
                <a:spcPts val="0"/>
              </a:spcAft>
              <a:buSzPts val="4200"/>
              <a:buNone/>
              <a:defRPr/>
            </a:lvl7pPr>
            <a:lvl8pPr lvl="7" rtl="0" algn="ctr">
              <a:spcBef>
                <a:spcPts val="0"/>
              </a:spcBef>
              <a:spcAft>
                <a:spcPts val="0"/>
              </a:spcAft>
              <a:buSzPts val="4200"/>
              <a:buNone/>
              <a:defRPr/>
            </a:lvl8pPr>
            <a:lvl9pPr lvl="8" rtl="0"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rtl="0"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rtl="0"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rtl="0"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rtl="0"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rtl="0"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rtl="0"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rtl="0"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rtl="0"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4200"/>
              <a:buNone/>
              <a:defRPr/>
            </a:lvl1pPr>
            <a:lvl2pPr lvl="1" rtl="0" algn="ctr">
              <a:spcBef>
                <a:spcPts val="0"/>
              </a:spcBef>
              <a:spcAft>
                <a:spcPts val="0"/>
              </a:spcAft>
              <a:buSzPts val="4200"/>
              <a:buNone/>
              <a:defRPr/>
            </a:lvl2pPr>
            <a:lvl3pPr lvl="2" rtl="0" algn="ctr">
              <a:spcBef>
                <a:spcPts val="0"/>
              </a:spcBef>
              <a:spcAft>
                <a:spcPts val="0"/>
              </a:spcAft>
              <a:buSzPts val="4200"/>
              <a:buNone/>
              <a:defRPr/>
            </a:lvl3pPr>
            <a:lvl4pPr lvl="3" rtl="0" algn="ctr">
              <a:spcBef>
                <a:spcPts val="0"/>
              </a:spcBef>
              <a:spcAft>
                <a:spcPts val="0"/>
              </a:spcAft>
              <a:buSzPts val="4200"/>
              <a:buNone/>
              <a:defRPr/>
            </a:lvl4pPr>
            <a:lvl5pPr lvl="4" rtl="0" algn="ctr">
              <a:spcBef>
                <a:spcPts val="0"/>
              </a:spcBef>
              <a:spcAft>
                <a:spcPts val="0"/>
              </a:spcAft>
              <a:buSzPts val="4200"/>
              <a:buNone/>
              <a:defRPr/>
            </a:lvl5pPr>
            <a:lvl6pPr lvl="5" rtl="0" algn="ctr">
              <a:spcBef>
                <a:spcPts val="0"/>
              </a:spcBef>
              <a:spcAft>
                <a:spcPts val="0"/>
              </a:spcAft>
              <a:buSzPts val="4200"/>
              <a:buNone/>
              <a:defRPr/>
            </a:lvl6pPr>
            <a:lvl7pPr lvl="6" rtl="0" algn="ctr">
              <a:spcBef>
                <a:spcPts val="0"/>
              </a:spcBef>
              <a:spcAft>
                <a:spcPts val="0"/>
              </a:spcAft>
              <a:buSzPts val="4200"/>
              <a:buNone/>
              <a:defRPr/>
            </a:lvl7pPr>
            <a:lvl8pPr lvl="7" rtl="0" algn="ctr">
              <a:spcBef>
                <a:spcPts val="0"/>
              </a:spcBef>
              <a:spcAft>
                <a:spcPts val="0"/>
              </a:spcAft>
              <a:buSzPts val="4200"/>
              <a:buNone/>
              <a:defRPr/>
            </a:lvl8pPr>
            <a:lvl9pPr lvl="8" rtl="0"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rtl="0" algn="ctr">
              <a:spcBef>
                <a:spcPts val="0"/>
              </a:spcBef>
              <a:spcAft>
                <a:spcPts val="0"/>
              </a:spcAft>
              <a:buClr>
                <a:schemeClr val="lt2"/>
              </a:buClr>
              <a:buSzPts val="4200"/>
              <a:buNone/>
              <a:defRPr>
                <a:solidFill>
                  <a:schemeClr val="lt2"/>
                </a:solidFill>
              </a:defRPr>
            </a:lvl1pPr>
            <a:lvl2pPr lvl="1" rtl="0" algn="ctr">
              <a:spcBef>
                <a:spcPts val="0"/>
              </a:spcBef>
              <a:spcAft>
                <a:spcPts val="0"/>
              </a:spcAft>
              <a:buClr>
                <a:schemeClr val="lt2"/>
              </a:buClr>
              <a:buSzPts val="4200"/>
              <a:buNone/>
              <a:defRPr>
                <a:solidFill>
                  <a:schemeClr val="lt2"/>
                </a:solidFill>
              </a:defRPr>
            </a:lvl2pPr>
            <a:lvl3pPr lvl="2" rtl="0" algn="ctr">
              <a:spcBef>
                <a:spcPts val="0"/>
              </a:spcBef>
              <a:spcAft>
                <a:spcPts val="0"/>
              </a:spcAft>
              <a:buClr>
                <a:schemeClr val="lt2"/>
              </a:buClr>
              <a:buSzPts val="4200"/>
              <a:buNone/>
              <a:defRPr>
                <a:solidFill>
                  <a:schemeClr val="lt2"/>
                </a:solidFill>
              </a:defRPr>
            </a:lvl3pPr>
            <a:lvl4pPr lvl="3" rtl="0" algn="ctr">
              <a:spcBef>
                <a:spcPts val="0"/>
              </a:spcBef>
              <a:spcAft>
                <a:spcPts val="0"/>
              </a:spcAft>
              <a:buClr>
                <a:schemeClr val="lt2"/>
              </a:buClr>
              <a:buSzPts val="4200"/>
              <a:buNone/>
              <a:defRPr>
                <a:solidFill>
                  <a:schemeClr val="lt2"/>
                </a:solidFill>
              </a:defRPr>
            </a:lvl4pPr>
            <a:lvl5pPr lvl="4" rtl="0" algn="ctr">
              <a:spcBef>
                <a:spcPts val="0"/>
              </a:spcBef>
              <a:spcAft>
                <a:spcPts val="0"/>
              </a:spcAft>
              <a:buClr>
                <a:schemeClr val="lt2"/>
              </a:buClr>
              <a:buSzPts val="4200"/>
              <a:buNone/>
              <a:defRPr>
                <a:solidFill>
                  <a:schemeClr val="lt2"/>
                </a:solidFill>
              </a:defRPr>
            </a:lvl5pPr>
            <a:lvl6pPr lvl="5" rtl="0" algn="ctr">
              <a:spcBef>
                <a:spcPts val="0"/>
              </a:spcBef>
              <a:spcAft>
                <a:spcPts val="0"/>
              </a:spcAft>
              <a:buClr>
                <a:schemeClr val="lt2"/>
              </a:buClr>
              <a:buSzPts val="4200"/>
              <a:buNone/>
              <a:defRPr>
                <a:solidFill>
                  <a:schemeClr val="lt2"/>
                </a:solidFill>
              </a:defRPr>
            </a:lvl6pPr>
            <a:lvl7pPr lvl="6" rtl="0" algn="ctr">
              <a:spcBef>
                <a:spcPts val="0"/>
              </a:spcBef>
              <a:spcAft>
                <a:spcPts val="0"/>
              </a:spcAft>
              <a:buClr>
                <a:schemeClr val="lt2"/>
              </a:buClr>
              <a:buSzPts val="4200"/>
              <a:buNone/>
              <a:defRPr>
                <a:solidFill>
                  <a:schemeClr val="lt2"/>
                </a:solidFill>
              </a:defRPr>
            </a:lvl7pPr>
            <a:lvl8pPr lvl="7" rtl="0" algn="ctr">
              <a:spcBef>
                <a:spcPts val="0"/>
              </a:spcBef>
              <a:spcAft>
                <a:spcPts val="0"/>
              </a:spcAft>
              <a:buClr>
                <a:schemeClr val="lt2"/>
              </a:buClr>
              <a:buSzPts val="4200"/>
              <a:buNone/>
              <a:defRPr>
                <a:solidFill>
                  <a:schemeClr val="lt2"/>
                </a:solidFill>
              </a:defRPr>
            </a:lvl8pPr>
            <a:lvl9pPr lvl="8" rtl="0"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rtl="0"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rtl="0"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rtl="0"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rtl="0"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rtl="0"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rtl="0"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rtl="0"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rtl="0"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0"/>
              </a:spcBef>
              <a:spcAft>
                <a:spcPts val="0"/>
              </a:spcAft>
              <a:buClr>
                <a:schemeClr val="lt1"/>
              </a:buClr>
              <a:buSzPts val="1400"/>
              <a:buChar char="○"/>
              <a:defRPr>
                <a:solidFill>
                  <a:schemeClr val="lt1"/>
                </a:solidFill>
              </a:defRPr>
            </a:lvl2pPr>
            <a:lvl3pPr indent="-317500" lvl="2" marL="1371600" rtl="0">
              <a:spcBef>
                <a:spcPts val="0"/>
              </a:spcBef>
              <a:spcAft>
                <a:spcPts val="0"/>
              </a:spcAft>
              <a:buClr>
                <a:schemeClr val="lt1"/>
              </a:buClr>
              <a:buSzPts val="1400"/>
              <a:buChar char="■"/>
              <a:defRPr>
                <a:solidFill>
                  <a:schemeClr val="lt1"/>
                </a:solidFill>
              </a:defRPr>
            </a:lvl3pPr>
            <a:lvl4pPr indent="-317500" lvl="3" marL="1828800" rtl="0">
              <a:spcBef>
                <a:spcPts val="0"/>
              </a:spcBef>
              <a:spcAft>
                <a:spcPts val="0"/>
              </a:spcAft>
              <a:buClr>
                <a:schemeClr val="lt1"/>
              </a:buClr>
              <a:buSzPts val="1400"/>
              <a:buChar char="●"/>
              <a:defRPr>
                <a:solidFill>
                  <a:schemeClr val="lt1"/>
                </a:solidFill>
              </a:defRPr>
            </a:lvl4pPr>
            <a:lvl5pPr indent="-317500" lvl="4" marL="2286000" rtl="0">
              <a:spcBef>
                <a:spcPts val="0"/>
              </a:spcBef>
              <a:spcAft>
                <a:spcPts val="0"/>
              </a:spcAft>
              <a:buClr>
                <a:schemeClr val="lt1"/>
              </a:buClr>
              <a:buSzPts val="1400"/>
              <a:buChar char="○"/>
              <a:defRPr>
                <a:solidFill>
                  <a:schemeClr val="lt1"/>
                </a:solidFill>
              </a:defRPr>
            </a:lvl5pPr>
            <a:lvl6pPr indent="-317500" lvl="5" marL="2743200" rtl="0">
              <a:spcBef>
                <a:spcPts val="0"/>
              </a:spcBef>
              <a:spcAft>
                <a:spcPts val="0"/>
              </a:spcAft>
              <a:buClr>
                <a:schemeClr val="lt1"/>
              </a:buClr>
              <a:buSzPts val="1400"/>
              <a:buChar char="■"/>
              <a:defRPr>
                <a:solidFill>
                  <a:schemeClr val="lt1"/>
                </a:solidFill>
              </a:defRPr>
            </a:lvl6pPr>
            <a:lvl7pPr indent="-317500" lvl="6" marL="3200400" rtl="0">
              <a:spcBef>
                <a:spcPts val="0"/>
              </a:spcBef>
              <a:spcAft>
                <a:spcPts val="0"/>
              </a:spcAft>
              <a:buClr>
                <a:schemeClr val="lt1"/>
              </a:buClr>
              <a:buSzPts val="1400"/>
              <a:buChar char="●"/>
              <a:defRPr>
                <a:solidFill>
                  <a:schemeClr val="lt1"/>
                </a:solidFill>
              </a:defRPr>
            </a:lvl7pPr>
            <a:lvl8pPr indent="-317500" lvl="7" marL="3657600" rtl="0">
              <a:spcBef>
                <a:spcPts val="0"/>
              </a:spcBef>
              <a:spcAft>
                <a:spcPts val="0"/>
              </a:spcAft>
              <a:buClr>
                <a:schemeClr val="lt1"/>
              </a:buClr>
              <a:buSzPts val="1400"/>
              <a:buChar char="○"/>
              <a:defRPr>
                <a:solidFill>
                  <a:schemeClr val="lt1"/>
                </a:solidFill>
              </a:defRPr>
            </a:lvl8pPr>
            <a:lvl9pPr indent="-317500" lvl="8" marL="4114800" rtl="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2"/>
              </a:buClr>
              <a:buSzPts val="16000"/>
              <a:buNone/>
              <a:defRPr sz="16000">
                <a:solidFill>
                  <a:schemeClr val="lt2"/>
                </a:solidFill>
              </a:defRPr>
            </a:lvl1pPr>
            <a:lvl2pPr lvl="1" rtl="0" algn="ctr">
              <a:spcBef>
                <a:spcPts val="0"/>
              </a:spcBef>
              <a:spcAft>
                <a:spcPts val="0"/>
              </a:spcAft>
              <a:buClr>
                <a:schemeClr val="lt2"/>
              </a:buClr>
              <a:buSzPts val="16000"/>
              <a:buNone/>
              <a:defRPr sz="16000">
                <a:solidFill>
                  <a:schemeClr val="lt2"/>
                </a:solidFill>
              </a:defRPr>
            </a:lvl2pPr>
            <a:lvl3pPr lvl="2" rtl="0" algn="ctr">
              <a:spcBef>
                <a:spcPts val="0"/>
              </a:spcBef>
              <a:spcAft>
                <a:spcPts val="0"/>
              </a:spcAft>
              <a:buClr>
                <a:schemeClr val="lt2"/>
              </a:buClr>
              <a:buSzPts val="16000"/>
              <a:buNone/>
              <a:defRPr sz="16000">
                <a:solidFill>
                  <a:schemeClr val="lt2"/>
                </a:solidFill>
              </a:defRPr>
            </a:lvl3pPr>
            <a:lvl4pPr lvl="3" rtl="0" algn="ctr">
              <a:spcBef>
                <a:spcPts val="0"/>
              </a:spcBef>
              <a:spcAft>
                <a:spcPts val="0"/>
              </a:spcAft>
              <a:buClr>
                <a:schemeClr val="lt2"/>
              </a:buClr>
              <a:buSzPts val="16000"/>
              <a:buNone/>
              <a:defRPr sz="16000">
                <a:solidFill>
                  <a:schemeClr val="lt2"/>
                </a:solidFill>
              </a:defRPr>
            </a:lvl4pPr>
            <a:lvl5pPr lvl="4" rtl="0" algn="ctr">
              <a:spcBef>
                <a:spcPts val="0"/>
              </a:spcBef>
              <a:spcAft>
                <a:spcPts val="0"/>
              </a:spcAft>
              <a:buClr>
                <a:schemeClr val="lt2"/>
              </a:buClr>
              <a:buSzPts val="16000"/>
              <a:buNone/>
              <a:defRPr sz="16000">
                <a:solidFill>
                  <a:schemeClr val="lt2"/>
                </a:solidFill>
              </a:defRPr>
            </a:lvl5pPr>
            <a:lvl6pPr lvl="5" rtl="0" algn="ctr">
              <a:spcBef>
                <a:spcPts val="0"/>
              </a:spcBef>
              <a:spcAft>
                <a:spcPts val="0"/>
              </a:spcAft>
              <a:buClr>
                <a:schemeClr val="lt2"/>
              </a:buClr>
              <a:buSzPts val="16000"/>
              <a:buNone/>
              <a:defRPr sz="16000">
                <a:solidFill>
                  <a:schemeClr val="lt2"/>
                </a:solidFill>
              </a:defRPr>
            </a:lvl6pPr>
            <a:lvl7pPr lvl="6" rtl="0" algn="ctr">
              <a:spcBef>
                <a:spcPts val="0"/>
              </a:spcBef>
              <a:spcAft>
                <a:spcPts val="0"/>
              </a:spcAft>
              <a:buClr>
                <a:schemeClr val="lt2"/>
              </a:buClr>
              <a:buSzPts val="16000"/>
              <a:buNone/>
              <a:defRPr sz="16000">
                <a:solidFill>
                  <a:schemeClr val="lt2"/>
                </a:solidFill>
              </a:defRPr>
            </a:lvl7pPr>
            <a:lvl8pPr lvl="7" rtl="0" algn="ctr">
              <a:spcBef>
                <a:spcPts val="0"/>
              </a:spcBef>
              <a:spcAft>
                <a:spcPts val="0"/>
              </a:spcAft>
              <a:buClr>
                <a:schemeClr val="lt2"/>
              </a:buClr>
              <a:buSzPts val="16000"/>
              <a:buNone/>
              <a:defRPr sz="16000">
                <a:solidFill>
                  <a:schemeClr val="lt2"/>
                </a:solidFill>
              </a:defRPr>
            </a:lvl8pPr>
            <a:lvl9pPr lvl="8" rtl="0"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1"/>
                </a:solidFill>
                <a:latin typeface="Economica"/>
                <a:ea typeface="Economica"/>
                <a:cs typeface="Economica"/>
                <a:sym typeface="Economica"/>
              </a:defRPr>
            </a:lvl1pPr>
            <a:lvl2pPr lvl="1" rtl="0" algn="r">
              <a:buNone/>
              <a:defRPr sz="1000">
                <a:solidFill>
                  <a:schemeClr val="dk1"/>
                </a:solidFill>
                <a:latin typeface="Economica"/>
                <a:ea typeface="Economica"/>
                <a:cs typeface="Economica"/>
                <a:sym typeface="Economica"/>
              </a:defRPr>
            </a:lvl2pPr>
            <a:lvl3pPr lvl="2" rtl="0" algn="r">
              <a:buNone/>
              <a:defRPr sz="1000">
                <a:solidFill>
                  <a:schemeClr val="dk1"/>
                </a:solidFill>
                <a:latin typeface="Economica"/>
                <a:ea typeface="Economica"/>
                <a:cs typeface="Economica"/>
                <a:sym typeface="Economica"/>
              </a:defRPr>
            </a:lvl3pPr>
            <a:lvl4pPr lvl="3" rtl="0" algn="r">
              <a:buNone/>
              <a:defRPr sz="1000">
                <a:solidFill>
                  <a:schemeClr val="dk1"/>
                </a:solidFill>
                <a:latin typeface="Economica"/>
                <a:ea typeface="Economica"/>
                <a:cs typeface="Economica"/>
                <a:sym typeface="Economica"/>
              </a:defRPr>
            </a:lvl4pPr>
            <a:lvl5pPr lvl="4" rtl="0" algn="r">
              <a:buNone/>
              <a:defRPr sz="1000">
                <a:solidFill>
                  <a:schemeClr val="dk1"/>
                </a:solidFill>
                <a:latin typeface="Economica"/>
                <a:ea typeface="Economica"/>
                <a:cs typeface="Economica"/>
                <a:sym typeface="Economica"/>
              </a:defRPr>
            </a:lvl5pPr>
            <a:lvl6pPr lvl="5" rtl="0" algn="r">
              <a:buNone/>
              <a:defRPr sz="1000">
                <a:solidFill>
                  <a:schemeClr val="dk1"/>
                </a:solidFill>
                <a:latin typeface="Economica"/>
                <a:ea typeface="Economica"/>
                <a:cs typeface="Economica"/>
                <a:sym typeface="Economica"/>
              </a:defRPr>
            </a:lvl6pPr>
            <a:lvl7pPr lvl="6" rtl="0" algn="r">
              <a:buNone/>
              <a:defRPr sz="1000">
                <a:solidFill>
                  <a:schemeClr val="dk1"/>
                </a:solidFill>
                <a:latin typeface="Economica"/>
                <a:ea typeface="Economica"/>
                <a:cs typeface="Economica"/>
                <a:sym typeface="Economica"/>
              </a:defRPr>
            </a:lvl7pPr>
            <a:lvl8pPr lvl="7" rtl="0" algn="r">
              <a:buNone/>
              <a:defRPr sz="1000">
                <a:solidFill>
                  <a:schemeClr val="dk1"/>
                </a:solidFill>
                <a:latin typeface="Economica"/>
                <a:ea typeface="Economica"/>
                <a:cs typeface="Economica"/>
                <a:sym typeface="Economica"/>
              </a:defRPr>
            </a:lvl8pPr>
            <a:lvl9pPr lvl="8" rtl="0"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7.png"/><Relationship Id="rId9"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1444255"/>
            <a:ext cx="3054600" cy="15372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solidFill>
                  <a:srgbClr val="0B5394"/>
                </a:solidFill>
              </a:rPr>
              <a:t>Rolling Thunder</a:t>
            </a:r>
            <a:endParaRPr>
              <a:solidFill>
                <a:srgbClr val="0B5394"/>
              </a:solidFill>
            </a:endParaRPr>
          </a:p>
        </p:txBody>
      </p:sp>
      <p:sp>
        <p:nvSpPr>
          <p:cNvPr id="63" name="Google Shape;63;p13"/>
          <p:cNvSpPr txBox="1"/>
          <p:nvPr>
            <p:ph idx="1" type="subTitle"/>
          </p:nvPr>
        </p:nvSpPr>
        <p:spPr>
          <a:xfrm>
            <a:off x="2849775" y="3116575"/>
            <a:ext cx="3468300" cy="921900"/>
          </a:xfrm>
          <a:prstGeom prst="rect">
            <a:avLst/>
          </a:prstGeom>
          <a:noFill/>
          <a:ln>
            <a:noFill/>
          </a:ln>
        </p:spPr>
        <p:txBody>
          <a:bodyPr anchorCtr="0" anchor="t" bIns="91425" lIns="91425" spcFirstLastPara="1" rIns="91425" wrap="square" tIns="91425">
            <a:normAutofit lnSpcReduction="10000"/>
          </a:bodyPr>
          <a:lstStyle/>
          <a:p>
            <a:pPr indent="0" lvl="0" marL="0" rtl="0" algn="ctr">
              <a:lnSpc>
                <a:spcPct val="100000"/>
              </a:lnSpc>
              <a:spcBef>
                <a:spcPts val="0"/>
              </a:spcBef>
              <a:spcAft>
                <a:spcPts val="0"/>
              </a:spcAft>
              <a:buSzPts val="2800"/>
              <a:buNone/>
            </a:pPr>
            <a:r>
              <a:rPr lang="en" sz="1700">
                <a:solidFill>
                  <a:schemeClr val="dk1"/>
                </a:solidFill>
              </a:rPr>
              <a:t>By</a:t>
            </a:r>
            <a:r>
              <a:rPr lang="en" sz="1700">
                <a:solidFill>
                  <a:schemeClr val="dk1"/>
                </a:solidFill>
              </a:rPr>
              <a:t> </a:t>
            </a:r>
            <a:r>
              <a:rPr lang="en" sz="1700">
                <a:solidFill>
                  <a:schemeClr val="dk1"/>
                </a:solidFill>
              </a:rPr>
              <a:t>: </a:t>
            </a:r>
            <a:r>
              <a:rPr lang="en" sz="1700">
                <a:solidFill>
                  <a:schemeClr val="dk1"/>
                </a:solidFill>
              </a:rPr>
              <a:t>David Vaughan, </a:t>
            </a:r>
            <a:r>
              <a:rPr lang="en" sz="1700">
                <a:solidFill>
                  <a:schemeClr val="dk1"/>
                </a:solidFill>
              </a:rPr>
              <a:t>Roman Tait,</a:t>
            </a:r>
            <a:r>
              <a:rPr lang="en" sz="1700">
                <a:solidFill>
                  <a:schemeClr val="dk1"/>
                </a:solidFill>
              </a:rPr>
              <a:t> </a:t>
            </a:r>
            <a:endParaRPr sz="1700">
              <a:solidFill>
                <a:schemeClr val="dk1"/>
              </a:solidFill>
            </a:endParaRPr>
          </a:p>
          <a:p>
            <a:pPr indent="0" lvl="0" marL="0" rtl="0" algn="ctr">
              <a:lnSpc>
                <a:spcPct val="100000"/>
              </a:lnSpc>
              <a:spcBef>
                <a:spcPts val="0"/>
              </a:spcBef>
              <a:spcAft>
                <a:spcPts val="0"/>
              </a:spcAft>
              <a:buSzPts val="2800"/>
              <a:buNone/>
            </a:pPr>
            <a:r>
              <a:rPr lang="en" sz="1700">
                <a:solidFill>
                  <a:schemeClr val="dk1"/>
                </a:solidFill>
              </a:rPr>
              <a:t>Tucker Hoffnagle, Karlton Hall, </a:t>
            </a:r>
            <a:endParaRPr sz="1700">
              <a:solidFill>
                <a:schemeClr val="dk1"/>
              </a:solidFill>
            </a:endParaRPr>
          </a:p>
          <a:p>
            <a:pPr indent="0" lvl="0" marL="0" rtl="0" algn="ctr">
              <a:lnSpc>
                <a:spcPct val="100000"/>
              </a:lnSpc>
              <a:spcBef>
                <a:spcPts val="0"/>
              </a:spcBef>
              <a:spcAft>
                <a:spcPts val="0"/>
              </a:spcAft>
              <a:buSzPts val="2800"/>
              <a:buNone/>
            </a:pPr>
            <a:r>
              <a:rPr lang="en" sz="1700">
                <a:solidFill>
                  <a:schemeClr val="dk1"/>
                </a:solidFill>
              </a:rPr>
              <a:t>Harrison Whitworth</a:t>
            </a:r>
            <a:endParaRPr sz="17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15925"/>
            <a:ext cx="8520600" cy="831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solidFill>
                  <a:srgbClr val="0B5394"/>
                </a:solidFill>
              </a:rPr>
              <a:t>Project Overview</a:t>
            </a:r>
            <a:endParaRPr>
              <a:solidFill>
                <a:srgbClr val="0B5394"/>
              </a:solidFill>
            </a:endParaRPr>
          </a:p>
        </p:txBody>
      </p:sp>
      <p:sp>
        <p:nvSpPr>
          <p:cNvPr id="69" name="Google Shape;69;p14"/>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365125" lvl="0" marL="457200" rtl="0" algn="l">
              <a:lnSpc>
                <a:spcPct val="115000"/>
              </a:lnSpc>
              <a:spcBef>
                <a:spcPts val="0"/>
              </a:spcBef>
              <a:spcAft>
                <a:spcPts val="0"/>
              </a:spcAft>
              <a:buClr>
                <a:schemeClr val="dk1"/>
              </a:buClr>
              <a:buSzPts val="2150"/>
              <a:buChar char="●"/>
            </a:pPr>
            <a:r>
              <a:rPr lang="en" sz="2150"/>
              <a:t>LLM Assisted Technical Order Management Tool</a:t>
            </a:r>
            <a:endParaRPr sz="2150"/>
          </a:p>
          <a:p>
            <a:pPr indent="-365125" lvl="0" marL="457200" rtl="0" algn="l">
              <a:lnSpc>
                <a:spcPct val="115000"/>
              </a:lnSpc>
              <a:spcBef>
                <a:spcPts val="0"/>
              </a:spcBef>
              <a:spcAft>
                <a:spcPts val="0"/>
              </a:spcAft>
              <a:buClr>
                <a:schemeClr val="dk1"/>
              </a:buClr>
              <a:buSzPts val="2150"/>
              <a:buChar char="●"/>
            </a:pPr>
            <a:r>
              <a:rPr lang="en" sz="2150"/>
              <a:t>P</a:t>
            </a:r>
            <a:r>
              <a:rPr lang="en" sz="2150">
                <a:solidFill>
                  <a:schemeClr val="dk1"/>
                </a:solidFill>
              </a:rPr>
              <a:t>rovide a Large Language Model (LLM) that has the capability to search and implement Air Force Technical Order Management specifications and directions</a:t>
            </a:r>
            <a:r>
              <a:rPr lang="en" sz="2150"/>
              <a:t>.</a:t>
            </a:r>
            <a:endParaRPr sz="2150">
              <a:solidFill>
                <a:schemeClr val="dk1"/>
              </a:solidFill>
            </a:endParaRPr>
          </a:p>
        </p:txBody>
      </p:sp>
      <p:pic>
        <p:nvPicPr>
          <p:cNvPr id="70" name="Google Shape;70;p14"/>
          <p:cNvPicPr preferRelativeResize="0"/>
          <p:nvPr/>
        </p:nvPicPr>
        <p:blipFill>
          <a:blip r:embed="rId3">
            <a:alphaModFix/>
          </a:blip>
          <a:stretch>
            <a:fillRect/>
          </a:stretch>
        </p:blipFill>
        <p:spPr>
          <a:xfrm>
            <a:off x="733013" y="3770176"/>
            <a:ext cx="7677975" cy="11670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11700" y="315925"/>
            <a:ext cx="8520600" cy="831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solidFill>
                  <a:srgbClr val="0B5394"/>
                </a:solidFill>
              </a:rPr>
              <a:t>Project Requirements</a:t>
            </a:r>
            <a:endParaRPr>
              <a:solidFill>
                <a:srgbClr val="0B5394"/>
              </a:solidFill>
            </a:endParaRPr>
          </a:p>
        </p:txBody>
      </p:sp>
      <p:sp>
        <p:nvSpPr>
          <p:cNvPr id="76" name="Google Shape;76;p15"/>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365125" lvl="0" marL="457200" rtl="0" algn="l">
              <a:lnSpc>
                <a:spcPct val="115000"/>
              </a:lnSpc>
              <a:spcBef>
                <a:spcPts val="0"/>
              </a:spcBef>
              <a:spcAft>
                <a:spcPts val="0"/>
              </a:spcAft>
              <a:buClr>
                <a:schemeClr val="dk1"/>
              </a:buClr>
              <a:buSzPts val="2150"/>
              <a:buChar char="●"/>
            </a:pPr>
            <a:r>
              <a:rPr lang="en" sz="2150">
                <a:solidFill>
                  <a:schemeClr val="dk1"/>
                </a:solidFill>
              </a:rPr>
              <a:t>Question/Answer capability</a:t>
            </a:r>
            <a:endParaRPr sz="2150">
              <a:solidFill>
                <a:schemeClr val="dk1"/>
              </a:solidFill>
            </a:endParaRPr>
          </a:p>
          <a:p>
            <a:pPr indent="-365125" lvl="0" marL="457200" rtl="0" algn="l">
              <a:lnSpc>
                <a:spcPct val="115000"/>
              </a:lnSpc>
              <a:spcBef>
                <a:spcPts val="0"/>
              </a:spcBef>
              <a:spcAft>
                <a:spcPts val="0"/>
              </a:spcAft>
              <a:buClr>
                <a:schemeClr val="dk1"/>
              </a:buClr>
              <a:buSzPts val="2150"/>
              <a:buChar char="●"/>
            </a:pPr>
            <a:r>
              <a:rPr lang="en" sz="2150">
                <a:solidFill>
                  <a:schemeClr val="dk1"/>
                </a:solidFill>
              </a:rPr>
              <a:t>Accuracy verification capability (no hallucinations)</a:t>
            </a:r>
            <a:endParaRPr sz="2150">
              <a:solidFill>
                <a:schemeClr val="dk1"/>
              </a:solidFill>
            </a:endParaRPr>
          </a:p>
          <a:p>
            <a:pPr indent="-365125" lvl="0" marL="457200" rtl="0" algn="l">
              <a:lnSpc>
                <a:spcPct val="115000"/>
              </a:lnSpc>
              <a:spcBef>
                <a:spcPts val="0"/>
              </a:spcBef>
              <a:spcAft>
                <a:spcPts val="0"/>
              </a:spcAft>
              <a:buClr>
                <a:schemeClr val="dk1"/>
              </a:buClr>
              <a:buSzPts val="2150"/>
              <a:buChar char="●"/>
            </a:pPr>
            <a:r>
              <a:rPr lang="en" sz="2150">
                <a:solidFill>
                  <a:schemeClr val="dk1"/>
                </a:solidFill>
              </a:rPr>
              <a:t>Traceability of data source (indicated in responses)</a:t>
            </a:r>
            <a:endParaRPr sz="2150">
              <a:solidFill>
                <a:schemeClr val="dk1"/>
              </a:solidFill>
            </a:endParaRPr>
          </a:p>
          <a:p>
            <a:pPr indent="-365125" lvl="0" marL="457200" rtl="0" algn="l">
              <a:lnSpc>
                <a:spcPct val="115000"/>
              </a:lnSpc>
              <a:spcBef>
                <a:spcPts val="0"/>
              </a:spcBef>
              <a:spcAft>
                <a:spcPts val="0"/>
              </a:spcAft>
              <a:buClr>
                <a:schemeClr val="dk1"/>
              </a:buClr>
              <a:buSzPts val="2150"/>
              <a:buChar char="●"/>
            </a:pPr>
            <a:r>
              <a:rPr lang="en" sz="2150">
                <a:solidFill>
                  <a:schemeClr val="dk1"/>
                </a:solidFill>
              </a:rPr>
              <a:t>Respond to user input </a:t>
            </a:r>
            <a:r>
              <a:rPr lang="en" sz="2150"/>
              <a:t>within</a:t>
            </a:r>
            <a:r>
              <a:rPr lang="en" sz="2150">
                <a:solidFill>
                  <a:schemeClr val="dk1"/>
                </a:solidFill>
              </a:rPr>
              <a:t> 3 seconds.</a:t>
            </a:r>
            <a:endParaRPr sz="2150">
              <a:solidFill>
                <a:schemeClr val="dk1"/>
              </a:solidFill>
            </a:endParaRPr>
          </a:p>
          <a:p>
            <a:pPr indent="-365125" lvl="0" marL="457200" rtl="0" algn="l">
              <a:lnSpc>
                <a:spcPct val="115000"/>
              </a:lnSpc>
              <a:spcBef>
                <a:spcPts val="0"/>
              </a:spcBef>
              <a:spcAft>
                <a:spcPts val="0"/>
              </a:spcAft>
              <a:buSzPts val="2150"/>
              <a:buChar char="●"/>
            </a:pPr>
            <a:r>
              <a:rPr lang="en" sz="2150"/>
              <a:t>Be available online through a website</a:t>
            </a:r>
            <a:endParaRPr sz="215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315925"/>
            <a:ext cx="8520600" cy="831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solidFill>
                  <a:srgbClr val="0B5394"/>
                </a:solidFill>
              </a:rPr>
              <a:t>Implementation Method</a:t>
            </a:r>
            <a:endParaRPr>
              <a:solidFill>
                <a:srgbClr val="0B5394"/>
              </a:solidFill>
            </a:endParaRPr>
          </a:p>
        </p:txBody>
      </p:sp>
      <p:sp>
        <p:nvSpPr>
          <p:cNvPr id="82" name="Google Shape;82;p16"/>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lnSpcReduction="10000"/>
          </a:bodyPr>
          <a:lstStyle/>
          <a:p>
            <a:pPr indent="-390615" lvl="0" marL="457200" rtl="0" algn="l">
              <a:lnSpc>
                <a:spcPct val="115000"/>
              </a:lnSpc>
              <a:spcBef>
                <a:spcPts val="0"/>
              </a:spcBef>
              <a:spcAft>
                <a:spcPts val="0"/>
              </a:spcAft>
              <a:buClr>
                <a:schemeClr val="dk1"/>
              </a:buClr>
              <a:buSzPts val="2551"/>
              <a:buChar char="●"/>
            </a:pPr>
            <a:r>
              <a:rPr lang="en" sz="2551">
                <a:solidFill>
                  <a:schemeClr val="dk1"/>
                </a:solidFill>
              </a:rPr>
              <a:t>Retrieval-augmented generation (RAG). </a:t>
            </a:r>
            <a:endParaRPr sz="2551">
              <a:solidFill>
                <a:schemeClr val="dk1"/>
              </a:solidFill>
            </a:endParaRPr>
          </a:p>
          <a:p>
            <a:pPr indent="-365215" lvl="1" marL="1371600" rtl="0" algn="l">
              <a:lnSpc>
                <a:spcPct val="115000"/>
              </a:lnSpc>
              <a:spcBef>
                <a:spcPts val="0"/>
              </a:spcBef>
              <a:spcAft>
                <a:spcPts val="0"/>
              </a:spcAft>
              <a:buClr>
                <a:schemeClr val="dk1"/>
              </a:buClr>
              <a:buSzPts val="2151"/>
              <a:buChar char="○"/>
            </a:pPr>
            <a:r>
              <a:rPr lang="en" sz="2151"/>
              <a:t>Split source data into</a:t>
            </a:r>
            <a:r>
              <a:rPr lang="en" sz="2151">
                <a:solidFill>
                  <a:schemeClr val="dk1"/>
                </a:solidFill>
              </a:rPr>
              <a:t> </a:t>
            </a:r>
            <a:r>
              <a:rPr lang="en" sz="2151"/>
              <a:t>vectors.</a:t>
            </a:r>
            <a:endParaRPr sz="2151"/>
          </a:p>
          <a:p>
            <a:pPr indent="-365215" lvl="1" marL="1371600" rtl="0" algn="l">
              <a:lnSpc>
                <a:spcPct val="115000"/>
              </a:lnSpc>
              <a:spcBef>
                <a:spcPts val="0"/>
              </a:spcBef>
              <a:spcAft>
                <a:spcPts val="0"/>
              </a:spcAft>
              <a:buSzPts val="2151"/>
              <a:buChar char="○"/>
            </a:pPr>
            <a:r>
              <a:rPr lang="en" sz="2151"/>
              <a:t>Convert vectors into embeddings.</a:t>
            </a:r>
            <a:endParaRPr sz="2151"/>
          </a:p>
          <a:p>
            <a:pPr indent="-365215" lvl="1" marL="1371600" rtl="0" algn="l">
              <a:lnSpc>
                <a:spcPct val="115000"/>
              </a:lnSpc>
              <a:spcBef>
                <a:spcPts val="0"/>
              </a:spcBef>
              <a:spcAft>
                <a:spcPts val="0"/>
              </a:spcAft>
              <a:buSzPts val="2151"/>
              <a:buChar char="○"/>
            </a:pPr>
            <a:r>
              <a:rPr lang="en" sz="2151"/>
              <a:t>Store into a vector database.</a:t>
            </a:r>
            <a:endParaRPr sz="2151">
              <a:solidFill>
                <a:schemeClr val="dk1"/>
              </a:solidFill>
            </a:endParaRPr>
          </a:p>
          <a:p>
            <a:pPr indent="-365215" lvl="1" marL="1371600" rtl="0" algn="l">
              <a:lnSpc>
                <a:spcPct val="115000"/>
              </a:lnSpc>
              <a:spcBef>
                <a:spcPts val="0"/>
              </a:spcBef>
              <a:spcAft>
                <a:spcPts val="0"/>
              </a:spcAft>
              <a:buClr>
                <a:schemeClr val="dk1"/>
              </a:buClr>
              <a:buSzPts val="2151"/>
              <a:buChar char="○"/>
            </a:pPr>
            <a:r>
              <a:rPr lang="en" sz="2151">
                <a:solidFill>
                  <a:schemeClr val="dk1"/>
                </a:solidFill>
              </a:rPr>
              <a:t>Provide LLM with</a:t>
            </a:r>
            <a:r>
              <a:rPr lang="en" sz="2151"/>
              <a:t> </a:t>
            </a:r>
            <a:r>
              <a:rPr lang="en" sz="2151">
                <a:solidFill>
                  <a:schemeClr val="dk1"/>
                </a:solidFill>
              </a:rPr>
              <a:t>user question </a:t>
            </a:r>
            <a:r>
              <a:rPr lang="en" sz="2151"/>
              <a:t>and </a:t>
            </a:r>
            <a:r>
              <a:rPr lang="en" sz="2151">
                <a:solidFill>
                  <a:schemeClr val="dk1"/>
                </a:solidFill>
              </a:rPr>
              <a:t>document info.</a:t>
            </a:r>
            <a:endParaRPr sz="2151">
              <a:solidFill>
                <a:schemeClr val="dk1"/>
              </a:solidFill>
            </a:endParaRPr>
          </a:p>
          <a:p>
            <a:pPr indent="-365215" lvl="1" marL="1371600" rtl="0" algn="l">
              <a:lnSpc>
                <a:spcPct val="115000"/>
              </a:lnSpc>
              <a:spcBef>
                <a:spcPts val="0"/>
              </a:spcBef>
              <a:spcAft>
                <a:spcPts val="0"/>
              </a:spcAft>
              <a:buClr>
                <a:schemeClr val="dk1"/>
              </a:buClr>
              <a:buSzPts val="2151"/>
              <a:buChar char="○"/>
            </a:pPr>
            <a:r>
              <a:rPr lang="en" sz="2151"/>
              <a:t>Convert user question into embedding, search database for relevant info.</a:t>
            </a:r>
            <a:endParaRPr sz="2151"/>
          </a:p>
          <a:p>
            <a:pPr indent="0" lvl="0" marL="914400" rtl="0" algn="l">
              <a:lnSpc>
                <a:spcPct val="115000"/>
              </a:lnSpc>
              <a:spcBef>
                <a:spcPts val="0"/>
              </a:spcBef>
              <a:spcAft>
                <a:spcPts val="0"/>
              </a:spcAft>
              <a:buNone/>
            </a:pPr>
            <a:r>
              <a:t/>
            </a:r>
            <a:endParaRPr sz="2151"/>
          </a:p>
          <a:p>
            <a:pPr indent="0" lvl="0" marL="914400" rtl="0" algn="l">
              <a:lnSpc>
                <a:spcPct val="115000"/>
              </a:lnSpc>
              <a:spcBef>
                <a:spcPts val="0"/>
              </a:spcBef>
              <a:spcAft>
                <a:spcPts val="0"/>
              </a:spcAft>
              <a:buNone/>
            </a:pPr>
            <a:r>
              <a:t/>
            </a:r>
            <a:endParaRPr sz="215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315925"/>
            <a:ext cx="8520600" cy="831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66905"/>
              <a:buNone/>
            </a:pPr>
            <a:r>
              <a:rPr lang="en" sz="4650">
                <a:solidFill>
                  <a:srgbClr val="0B5394"/>
                </a:solidFill>
              </a:rPr>
              <a:t>Implementation Method 2: Fine Tuning</a:t>
            </a:r>
            <a:endParaRPr sz="4650">
              <a:solidFill>
                <a:srgbClr val="0B5394"/>
              </a:solidFill>
            </a:endParaRPr>
          </a:p>
          <a:p>
            <a:pPr indent="0" lvl="0" marL="0" rtl="0" algn="l">
              <a:lnSpc>
                <a:spcPct val="100000"/>
              </a:lnSpc>
              <a:spcBef>
                <a:spcPts val="0"/>
              </a:spcBef>
              <a:spcAft>
                <a:spcPts val="0"/>
              </a:spcAft>
              <a:buSzPct val="74074"/>
              <a:buNone/>
            </a:pPr>
            <a:r>
              <a:t/>
            </a:r>
            <a:endParaRPr/>
          </a:p>
        </p:txBody>
      </p:sp>
      <p:sp>
        <p:nvSpPr>
          <p:cNvPr id="88" name="Google Shape;88;p17"/>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lnSpcReduction="10000"/>
          </a:bodyPr>
          <a:lstStyle/>
          <a:p>
            <a:pPr indent="-390525" lvl="0" marL="457200" rtl="0" algn="l">
              <a:lnSpc>
                <a:spcPct val="100000"/>
              </a:lnSpc>
              <a:spcBef>
                <a:spcPts val="0"/>
              </a:spcBef>
              <a:spcAft>
                <a:spcPts val="0"/>
              </a:spcAft>
              <a:buClr>
                <a:schemeClr val="dk1"/>
              </a:buClr>
              <a:buSzPts val="2550"/>
              <a:buChar char="●"/>
            </a:pPr>
            <a:r>
              <a:rPr lang="en" sz="2550"/>
              <a:t>Fine Tuning</a:t>
            </a:r>
            <a:endParaRPr sz="2550"/>
          </a:p>
          <a:p>
            <a:pPr indent="-365125" lvl="1" marL="914400" rtl="0" algn="l">
              <a:lnSpc>
                <a:spcPct val="100000"/>
              </a:lnSpc>
              <a:spcBef>
                <a:spcPts val="0"/>
              </a:spcBef>
              <a:spcAft>
                <a:spcPts val="0"/>
              </a:spcAft>
              <a:buSzPts val="2150"/>
              <a:buChar char="○"/>
            </a:pPr>
            <a:r>
              <a:rPr lang="en" sz="2150"/>
              <a:t>Update weights of pre-trained model on new task and data.</a:t>
            </a:r>
            <a:endParaRPr sz="2150"/>
          </a:p>
          <a:p>
            <a:pPr indent="-365125" lvl="1" marL="914400" rtl="0" algn="l">
              <a:lnSpc>
                <a:spcPct val="100000"/>
              </a:lnSpc>
              <a:spcBef>
                <a:spcPts val="0"/>
              </a:spcBef>
              <a:spcAft>
                <a:spcPts val="0"/>
              </a:spcAft>
              <a:buSzPts val="2150"/>
              <a:buChar char="○"/>
            </a:pPr>
            <a:r>
              <a:rPr lang="en" sz="2150"/>
              <a:t>Question-Answer pairs are given to optimize performance</a:t>
            </a:r>
            <a:endParaRPr sz="2150"/>
          </a:p>
          <a:p>
            <a:pPr indent="-365125" lvl="1" marL="914400" rtl="0" algn="l">
              <a:lnSpc>
                <a:spcPct val="100000"/>
              </a:lnSpc>
              <a:spcBef>
                <a:spcPts val="0"/>
              </a:spcBef>
              <a:spcAft>
                <a:spcPts val="0"/>
              </a:spcAft>
              <a:buSzPts val="2150"/>
              <a:buChar char="○"/>
            </a:pPr>
            <a:r>
              <a:rPr lang="en" sz="2150"/>
              <a:t>PEFT trains select parameters to reduce costs</a:t>
            </a:r>
            <a:endParaRPr sz="2150"/>
          </a:p>
          <a:p>
            <a:pPr indent="0" lvl="0" marL="0" rtl="0" algn="l">
              <a:lnSpc>
                <a:spcPct val="100000"/>
              </a:lnSpc>
              <a:spcBef>
                <a:spcPts val="0"/>
              </a:spcBef>
              <a:spcAft>
                <a:spcPts val="0"/>
              </a:spcAft>
              <a:buSzPts val="2323"/>
              <a:buNone/>
            </a:pPr>
            <a:r>
              <a:t/>
            </a:r>
            <a:endParaRPr sz="2800">
              <a:solidFill>
                <a:schemeClr val="dk1"/>
              </a:solidFill>
            </a:endParaRPr>
          </a:p>
          <a:p>
            <a:pPr indent="0" lvl="0" marL="0" rtl="0" algn="l">
              <a:lnSpc>
                <a:spcPct val="100000"/>
              </a:lnSpc>
              <a:spcBef>
                <a:spcPts val="0"/>
              </a:spcBef>
              <a:spcAft>
                <a:spcPts val="0"/>
              </a:spcAft>
              <a:buSzPts val="2323"/>
              <a:buNone/>
            </a:pPr>
            <a:r>
              <a:t/>
            </a:r>
            <a:endParaRPr sz="2800">
              <a:solidFill>
                <a:schemeClr val="dk1"/>
              </a:solidFill>
            </a:endParaRPr>
          </a:p>
          <a:p>
            <a:pPr indent="0" lvl="0" marL="0" rtl="0" algn="l">
              <a:lnSpc>
                <a:spcPct val="100000"/>
              </a:lnSpc>
              <a:spcBef>
                <a:spcPts val="0"/>
              </a:spcBef>
              <a:spcAft>
                <a:spcPts val="0"/>
              </a:spcAft>
              <a:buSzPts val="2323"/>
              <a:buNone/>
            </a:pPr>
            <a:r>
              <a:t/>
            </a:r>
            <a:endParaRPr sz="2800">
              <a:solidFill>
                <a:schemeClr val="dk1"/>
              </a:solidFill>
            </a:endParaRPr>
          </a:p>
          <a:p>
            <a:pPr indent="0" lvl="0" marL="0" rtl="0" algn="l">
              <a:lnSpc>
                <a:spcPct val="100000"/>
              </a:lnSpc>
              <a:spcBef>
                <a:spcPts val="0"/>
              </a:spcBef>
              <a:spcAft>
                <a:spcPts val="0"/>
              </a:spcAft>
              <a:buSzPts val="2323"/>
              <a:buNone/>
            </a:pPr>
            <a:r>
              <a:t/>
            </a:r>
            <a:endParaRPr sz="2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solidFill>
                  <a:srgbClr val="0B5394"/>
                </a:solidFill>
              </a:rPr>
              <a:t>Implementation Tools</a:t>
            </a:r>
            <a:endParaRPr>
              <a:solidFill>
                <a:srgbClr val="0B5394"/>
              </a:solidFill>
            </a:endParaRPr>
          </a:p>
        </p:txBody>
      </p:sp>
      <p:pic>
        <p:nvPicPr>
          <p:cNvPr id="94" name="Google Shape;94;p18"/>
          <p:cNvPicPr preferRelativeResize="0"/>
          <p:nvPr/>
        </p:nvPicPr>
        <p:blipFill>
          <a:blip r:embed="rId3">
            <a:alphaModFix/>
          </a:blip>
          <a:stretch>
            <a:fillRect/>
          </a:stretch>
        </p:blipFill>
        <p:spPr>
          <a:xfrm>
            <a:off x="1446052" y="3215865"/>
            <a:ext cx="1508026" cy="1508026"/>
          </a:xfrm>
          <a:prstGeom prst="rect">
            <a:avLst/>
          </a:prstGeom>
          <a:noFill/>
          <a:ln>
            <a:noFill/>
          </a:ln>
        </p:spPr>
      </p:pic>
      <p:pic>
        <p:nvPicPr>
          <p:cNvPr id="95" name="Google Shape;95;p18"/>
          <p:cNvPicPr preferRelativeResize="0"/>
          <p:nvPr/>
        </p:nvPicPr>
        <p:blipFill>
          <a:blip r:embed="rId4">
            <a:alphaModFix/>
          </a:blip>
          <a:stretch>
            <a:fillRect/>
          </a:stretch>
        </p:blipFill>
        <p:spPr>
          <a:xfrm>
            <a:off x="3844913" y="3435149"/>
            <a:ext cx="1735024" cy="1069488"/>
          </a:xfrm>
          <a:prstGeom prst="rect">
            <a:avLst/>
          </a:prstGeom>
          <a:noFill/>
          <a:ln>
            <a:noFill/>
          </a:ln>
        </p:spPr>
      </p:pic>
      <p:pic>
        <p:nvPicPr>
          <p:cNvPr id="96" name="Google Shape;96;p18"/>
          <p:cNvPicPr preferRelativeResize="0"/>
          <p:nvPr/>
        </p:nvPicPr>
        <p:blipFill>
          <a:blip r:embed="rId5">
            <a:alphaModFix/>
          </a:blip>
          <a:stretch>
            <a:fillRect/>
          </a:stretch>
        </p:blipFill>
        <p:spPr>
          <a:xfrm>
            <a:off x="116474" y="1141037"/>
            <a:ext cx="1735025" cy="1735002"/>
          </a:xfrm>
          <a:prstGeom prst="rect">
            <a:avLst/>
          </a:prstGeom>
          <a:noFill/>
          <a:ln>
            <a:noFill/>
          </a:ln>
        </p:spPr>
      </p:pic>
      <p:pic>
        <p:nvPicPr>
          <p:cNvPr id="97" name="Google Shape;97;p18"/>
          <p:cNvPicPr preferRelativeResize="0"/>
          <p:nvPr/>
        </p:nvPicPr>
        <p:blipFill>
          <a:blip r:embed="rId6">
            <a:alphaModFix/>
          </a:blip>
          <a:stretch>
            <a:fillRect/>
          </a:stretch>
        </p:blipFill>
        <p:spPr>
          <a:xfrm>
            <a:off x="2425655" y="1141025"/>
            <a:ext cx="1735025" cy="1735025"/>
          </a:xfrm>
          <a:prstGeom prst="rect">
            <a:avLst/>
          </a:prstGeom>
          <a:noFill/>
          <a:ln>
            <a:noFill/>
          </a:ln>
        </p:spPr>
      </p:pic>
      <p:pic>
        <p:nvPicPr>
          <p:cNvPr id="98" name="Google Shape;98;p18"/>
          <p:cNvPicPr preferRelativeResize="0"/>
          <p:nvPr/>
        </p:nvPicPr>
        <p:blipFill>
          <a:blip r:embed="rId7">
            <a:alphaModFix/>
          </a:blip>
          <a:stretch>
            <a:fillRect/>
          </a:stretch>
        </p:blipFill>
        <p:spPr>
          <a:xfrm>
            <a:off x="7064975" y="1254537"/>
            <a:ext cx="1735026" cy="1508019"/>
          </a:xfrm>
          <a:prstGeom prst="rect">
            <a:avLst/>
          </a:prstGeom>
          <a:noFill/>
          <a:ln>
            <a:noFill/>
          </a:ln>
        </p:spPr>
      </p:pic>
      <p:pic>
        <p:nvPicPr>
          <p:cNvPr id="99" name="Google Shape;99;p18"/>
          <p:cNvPicPr preferRelativeResize="0"/>
          <p:nvPr/>
        </p:nvPicPr>
        <p:blipFill>
          <a:blip r:embed="rId8">
            <a:alphaModFix/>
          </a:blip>
          <a:stretch>
            <a:fillRect/>
          </a:stretch>
        </p:blipFill>
        <p:spPr>
          <a:xfrm>
            <a:off x="6602338" y="3102375"/>
            <a:ext cx="1471893" cy="1735025"/>
          </a:xfrm>
          <a:prstGeom prst="rect">
            <a:avLst/>
          </a:prstGeom>
          <a:noFill/>
          <a:ln>
            <a:noFill/>
          </a:ln>
        </p:spPr>
      </p:pic>
      <p:pic>
        <p:nvPicPr>
          <p:cNvPr id="100" name="Google Shape;100;p18"/>
          <p:cNvPicPr preferRelativeResize="0"/>
          <p:nvPr/>
        </p:nvPicPr>
        <p:blipFill>
          <a:blip r:embed="rId9">
            <a:alphaModFix/>
          </a:blip>
          <a:stretch>
            <a:fillRect/>
          </a:stretch>
        </p:blipFill>
        <p:spPr>
          <a:xfrm>
            <a:off x="4734826" y="1254513"/>
            <a:ext cx="1756013" cy="1650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315925"/>
            <a:ext cx="8520600" cy="831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solidFill>
                  <a:srgbClr val="0B5394"/>
                </a:solidFill>
              </a:rPr>
              <a:t>Interviews </a:t>
            </a:r>
            <a:endParaRPr>
              <a:solidFill>
                <a:srgbClr val="0B5394"/>
              </a:solidFill>
            </a:endParaRPr>
          </a:p>
        </p:txBody>
      </p:sp>
      <p:sp>
        <p:nvSpPr>
          <p:cNvPr id="106" name="Google Shape;106;p19"/>
          <p:cNvSpPr txBox="1"/>
          <p:nvPr>
            <p:ph idx="1" type="body"/>
          </p:nvPr>
        </p:nvSpPr>
        <p:spPr>
          <a:xfrm>
            <a:off x="311700" y="1225225"/>
            <a:ext cx="3999900" cy="33540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en" sz="1500"/>
              <a:t>Interview 1</a:t>
            </a:r>
            <a:endParaRPr sz="1500"/>
          </a:p>
          <a:p>
            <a:pPr indent="-323850" lvl="0" marL="457200" rtl="0" algn="l">
              <a:lnSpc>
                <a:spcPct val="115000"/>
              </a:lnSpc>
              <a:spcBef>
                <a:spcPts val="1200"/>
              </a:spcBef>
              <a:spcAft>
                <a:spcPts val="0"/>
              </a:spcAft>
              <a:buSzPts val="1500"/>
              <a:buChar char="●"/>
            </a:pPr>
            <a:r>
              <a:rPr lang="en" sz="1500"/>
              <a:t>Prioritize definitions and explanations</a:t>
            </a:r>
            <a:endParaRPr sz="1500"/>
          </a:p>
          <a:p>
            <a:pPr indent="-323850" lvl="0" marL="457200" rtl="0" algn="l">
              <a:lnSpc>
                <a:spcPct val="115000"/>
              </a:lnSpc>
              <a:spcBef>
                <a:spcPts val="0"/>
              </a:spcBef>
              <a:spcAft>
                <a:spcPts val="0"/>
              </a:spcAft>
              <a:buSzPts val="1500"/>
              <a:buChar char="●"/>
            </a:pPr>
            <a:r>
              <a:rPr lang="en" sz="1500"/>
              <a:t>Available through website</a:t>
            </a:r>
            <a:endParaRPr sz="1500"/>
          </a:p>
          <a:p>
            <a:pPr indent="-323850" lvl="0" marL="457200" rtl="0" algn="l">
              <a:lnSpc>
                <a:spcPct val="115000"/>
              </a:lnSpc>
              <a:spcBef>
                <a:spcPts val="0"/>
              </a:spcBef>
              <a:spcAft>
                <a:spcPts val="0"/>
              </a:spcAft>
              <a:buSzPts val="1500"/>
              <a:buChar char="●"/>
            </a:pPr>
            <a:r>
              <a:rPr lang="en" sz="1500"/>
              <a:t>3 second response time</a:t>
            </a:r>
            <a:endParaRPr sz="1500"/>
          </a:p>
          <a:p>
            <a:pPr indent="-323850" lvl="0" marL="457200" rtl="0" algn="l">
              <a:lnSpc>
                <a:spcPct val="115000"/>
              </a:lnSpc>
              <a:spcBef>
                <a:spcPts val="0"/>
              </a:spcBef>
              <a:spcAft>
                <a:spcPts val="0"/>
              </a:spcAft>
              <a:buSzPts val="1500"/>
              <a:buChar char="●"/>
            </a:pPr>
            <a:r>
              <a:rPr lang="en" sz="1500"/>
              <a:t>Include extra manuals as stretch goal</a:t>
            </a:r>
            <a:endParaRPr sz="1500"/>
          </a:p>
        </p:txBody>
      </p:sp>
      <p:sp>
        <p:nvSpPr>
          <p:cNvPr id="107" name="Google Shape;107;p19"/>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t>Interview 2</a:t>
            </a:r>
            <a:endParaRPr sz="1500"/>
          </a:p>
          <a:p>
            <a:pPr indent="-323850" lvl="0" marL="457200" rtl="0" algn="l">
              <a:spcBef>
                <a:spcPts val="1200"/>
              </a:spcBef>
              <a:spcAft>
                <a:spcPts val="0"/>
              </a:spcAft>
              <a:buSzPts val="1500"/>
              <a:buChar char="●"/>
            </a:pPr>
            <a:r>
              <a:rPr lang="en" sz="1500"/>
              <a:t>Finalized use of Falcon 7B and Langchain</a:t>
            </a:r>
            <a:endParaRPr sz="1500"/>
          </a:p>
          <a:p>
            <a:pPr indent="-323850" lvl="0" marL="457200" rtl="0" algn="l">
              <a:spcBef>
                <a:spcPts val="0"/>
              </a:spcBef>
              <a:spcAft>
                <a:spcPts val="0"/>
              </a:spcAft>
              <a:buSzPts val="1500"/>
              <a:buChar char="●"/>
            </a:pPr>
            <a:r>
              <a:rPr lang="en" sz="1500"/>
              <a:t>Retrieval Augmented Generation (RAG) focus and Fine Tuning to supplement</a:t>
            </a:r>
            <a:endParaRPr sz="1500"/>
          </a:p>
          <a:p>
            <a:pPr indent="-323850" lvl="0" marL="457200" rtl="0" algn="l">
              <a:spcBef>
                <a:spcPts val="0"/>
              </a:spcBef>
              <a:spcAft>
                <a:spcPts val="0"/>
              </a:spcAft>
              <a:buSzPts val="1500"/>
              <a:buChar char="●"/>
            </a:pPr>
            <a:r>
              <a:rPr lang="en" sz="1500"/>
              <a:t>User Guide for prompt engineering</a:t>
            </a:r>
            <a:endParaRPr sz="1500"/>
          </a:p>
          <a:p>
            <a:pPr indent="-323850" lvl="0" marL="457200" rtl="0" algn="l">
              <a:spcBef>
                <a:spcPts val="0"/>
              </a:spcBef>
              <a:spcAft>
                <a:spcPts val="0"/>
              </a:spcAft>
              <a:buSzPts val="1500"/>
              <a:buChar char="●"/>
            </a:pPr>
            <a:r>
              <a:rPr lang="en" sz="1500"/>
              <a:t>Access level for including/restricting manuals as stretch goal</a:t>
            </a:r>
            <a:endParaRPr sz="1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311700" y="315925"/>
            <a:ext cx="8520600" cy="831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solidFill>
                  <a:srgbClr val="0B5394"/>
                </a:solidFill>
              </a:rPr>
              <a:t>End Of Slides</a:t>
            </a:r>
            <a:endParaRPr>
              <a:solidFill>
                <a:srgbClr val="0B5394"/>
              </a:solidFill>
            </a:endParaRPr>
          </a:p>
        </p:txBody>
      </p:sp>
      <p:sp>
        <p:nvSpPr>
          <p:cNvPr id="113" name="Google Shape;113;p20"/>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0"/>
              </a:spcBef>
              <a:spcAft>
                <a:spcPts val="0"/>
              </a:spcAft>
              <a:buSzPts val="1800"/>
              <a:buNone/>
            </a:pPr>
            <a:r>
              <a:rPr lang="en"/>
              <a:t>https://karltonh.github.io/Rollingthunder_ttu/#/</a:t>
            </a:r>
            <a:endParaRPr/>
          </a:p>
          <a:p>
            <a:pPr indent="0" lvl="0" marL="457200" rtl="0" algn="l">
              <a:lnSpc>
                <a:spcPct val="115000"/>
              </a:lnSpc>
              <a:spcBef>
                <a:spcPts val="0"/>
              </a:spcBef>
              <a:spcAft>
                <a:spcPts val="0"/>
              </a:spcAft>
              <a:buSzPts val="1800"/>
              <a:buNone/>
            </a:pPr>
            <a:r>
              <a:t/>
            </a:r>
            <a:endParaRPr/>
          </a:p>
          <a:p>
            <a:pPr indent="0" lvl="0" marL="457200" rtl="0" algn="l">
              <a:lnSpc>
                <a:spcPct val="115000"/>
              </a:lnSpc>
              <a:spcBef>
                <a:spcPts val="0"/>
              </a:spcBef>
              <a:spcAft>
                <a:spcPts val="0"/>
              </a:spcAft>
              <a:buSzPts val="1800"/>
              <a:buNone/>
            </a:pPr>
            <a:r>
              <a:rPr lang="en">
                <a:solidFill>
                  <a:schemeClr val="dk1"/>
                </a:solidFill>
              </a:rPr>
              <a:t>“🤗 PEFT.” GitHub, 18 May 2023, github.com/huggingface/peft.</a:t>
            </a:r>
            <a:endParaRPr>
              <a:solidFill>
                <a:schemeClr val="dk1"/>
              </a:solidFill>
            </a:endParaRPr>
          </a:p>
          <a:p>
            <a:pPr indent="0" lvl="0" marL="457200" rtl="0" algn="l">
              <a:lnSpc>
                <a:spcPct val="115000"/>
              </a:lnSpc>
              <a:spcBef>
                <a:spcPts val="1200"/>
              </a:spcBef>
              <a:spcAft>
                <a:spcPts val="1200"/>
              </a:spcAft>
              <a:buSzPts val="1800"/>
              <a:buNone/>
            </a:pPr>
            <a:r>
              <a:rPr lang="en"/>
              <a:t>“balapv.“</a:t>
            </a:r>
            <a:r>
              <a:rPr lang="en">
                <a:solidFill>
                  <a:schemeClr val="dk1"/>
                </a:solidFill>
              </a:rPr>
              <a:t> Retrieval Augmented Generation Using Azure Machine Learning Prompt Flow (Preview) - Azure Machine Learning.” Learn.microsoft.com, 31 July 2023, learn.microsoft.com/en-us/azure/machine-learning/concept-retrieval-augmented-generation?view=azureml-api-2. </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