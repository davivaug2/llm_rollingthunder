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Economica"/>
      <p:regular r:id="rId19"/>
      <p:bold r:id="rId20"/>
      <p:italic r:id="rId21"/>
      <p:boldItalic r:id="rId22"/>
    </p:embeddedFont>
    <p:embeddedFont>
      <p:font typeface="Roboto"/>
      <p:regular r:id="rId23"/>
      <p:bold r:id="rId24"/>
      <p:italic r:id="rId25"/>
      <p:boldItalic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conomica-bold.fntdata"/><Relationship Id="rId22" Type="http://schemas.openxmlformats.org/officeDocument/2006/relationships/font" Target="fonts/Economica-boldItalic.fntdata"/><Relationship Id="rId21" Type="http://schemas.openxmlformats.org/officeDocument/2006/relationships/font" Target="fonts/Economica-italic.fntdata"/><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Economica-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5d1a042d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5d1a042db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5d1a042db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25d1a042dba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We’re developing a LLM assisted technical order management tool. This tool will be able to search and retrieve air force technical order management specifications and directions. Simply put the air force has many technical manuals where they will need to look up certain codes and definitions but the manuals are very long and extensive. Our tool aims to simplify this process, it will be a web page in which you can simply input questions pertaining to this information and it will output the desires code/definition. Through the rest of this presentation we will talk about the requirements, our software we’re going to use and how we plan to implement this all together and lastly what we learned from our interviews with lockheed martin.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5d1a042db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25d1a042dba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5d1a042db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g25d1a042dba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151">
                <a:solidFill>
                  <a:schemeClr val="dk1"/>
                </a:solidFill>
                <a:latin typeface="Open Sans"/>
                <a:ea typeface="Open Sans"/>
                <a:cs typeface="Open Sans"/>
                <a:sym typeface="Open Sans"/>
              </a:rPr>
              <a:t>Our source data is the AF-TO pdfs, stored on github.</a:t>
            </a:r>
            <a:endParaRPr sz="2151">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2151">
                <a:solidFill>
                  <a:schemeClr val="dk1"/>
                </a:solidFill>
                <a:latin typeface="Open Sans"/>
                <a:ea typeface="Open Sans"/>
                <a:cs typeface="Open Sans"/>
                <a:sym typeface="Open Sans"/>
              </a:rPr>
              <a:t>This data is split into smaller pieces and converted into vectors, called embeddings. These embeddings are then stored into a vector database.</a:t>
            </a:r>
            <a:endParaRPr sz="2151">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2151">
                <a:solidFill>
                  <a:schemeClr val="dk1"/>
                </a:solidFill>
                <a:latin typeface="Open Sans"/>
                <a:ea typeface="Open Sans"/>
                <a:cs typeface="Open Sans"/>
                <a:sym typeface="Open Sans"/>
              </a:rPr>
              <a:t>User questions are then converted into embeddings, and are compared to the database to retrieve relevant answers.</a:t>
            </a:r>
            <a:endParaRPr sz="2151">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sz="2151">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2151">
                <a:solidFill>
                  <a:schemeClr val="dk1"/>
                </a:solidFill>
                <a:latin typeface="Open Sans"/>
                <a:ea typeface="Open Sans"/>
                <a:cs typeface="Open Sans"/>
                <a:sym typeface="Open Sans"/>
              </a:rPr>
              <a:t>We have two main implementation methods that we are using. The first and primary one is Retrieval Augmented Generation, or RAG.</a:t>
            </a:r>
            <a:endParaRPr sz="2151">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2151">
                <a:solidFill>
                  <a:schemeClr val="dk1"/>
                </a:solidFill>
                <a:latin typeface="Open Sans"/>
                <a:ea typeface="Open Sans"/>
                <a:cs typeface="Open Sans"/>
                <a:sym typeface="Open Sans"/>
              </a:rPr>
              <a:t>With RAG, we first take our source data, the AF-TO documents stored on GitHub, and split it into smaller pieces. These small pieces are then converted into vectors,</a:t>
            </a:r>
            <a:endParaRPr sz="2151">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2151">
                <a:solidFill>
                  <a:schemeClr val="dk1"/>
                </a:solidFill>
                <a:latin typeface="Open Sans"/>
                <a:ea typeface="Open Sans"/>
                <a:cs typeface="Open Sans"/>
                <a:sym typeface="Open Sans"/>
              </a:rPr>
              <a:t>called “embeddings”. We then take these embeddings and store them into a vector database.</a:t>
            </a:r>
            <a:endParaRPr sz="2151">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2151">
                <a:solidFill>
                  <a:schemeClr val="dk1"/>
                </a:solidFill>
                <a:latin typeface="Open Sans"/>
                <a:ea typeface="Open Sans"/>
                <a:cs typeface="Open Sans"/>
                <a:sym typeface="Open Sans"/>
              </a:rPr>
              <a:t>The LLM is then given the user question. This question is converted into an embedding and searches through the database for relevant information to return a proper answer. The question-answer is saved so that the LLM can “remember” recent past conversation.</a:t>
            </a:r>
            <a:endParaRPr sz="2151">
              <a:solidFill>
                <a:schemeClr val="dk1"/>
              </a:solidFill>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5d1a042dba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5d1a042dba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02aac45d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602aac45d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Falcon 7B and a tokenizer, from Hugging Face. Tokenizer prepares the inputs for the model, turns data into tokens. </a:t>
            </a:r>
            <a:endParaRPr/>
          </a:p>
          <a:p>
            <a:pPr indent="0" lvl="0" marL="0" rtl="0" algn="l">
              <a:spcBef>
                <a:spcPts val="0"/>
              </a:spcBef>
              <a:spcAft>
                <a:spcPts val="0"/>
              </a:spcAft>
              <a:buNone/>
            </a:pPr>
            <a:r>
              <a:rPr lang="en"/>
              <a:t>We went with the Falcon 7B model as it performs well when compared to other open-source models like MPT-7B and StableLM. As it is made available with the Apache 2.0 license, it is usable without royalties or restrictions. </a:t>
            </a:r>
            <a:endParaRPr/>
          </a:p>
          <a:p>
            <a:pPr indent="0" lvl="0" marL="0" rtl="0" algn="l">
              <a:spcBef>
                <a:spcPts val="0"/>
              </a:spcBef>
              <a:spcAft>
                <a:spcPts val="0"/>
              </a:spcAft>
              <a:buNone/>
            </a:pPr>
            <a:r>
              <a:rPr lang="en"/>
              <a:t>It requires 16 GB of memory, so it’s a good middle ground for performance and usability. The Falcon 7B Model is also meant to be fine tuned for most usecases, making it the perfect fit for our project.</a:t>
            </a:r>
            <a:endParaRPr/>
          </a:p>
          <a:p>
            <a:pPr indent="0" lvl="0" marL="0" rtl="0" algn="l">
              <a:spcBef>
                <a:spcPts val="0"/>
              </a:spcBef>
              <a:spcAft>
                <a:spcPts val="0"/>
              </a:spcAft>
              <a:buNone/>
            </a:pPr>
            <a:r>
              <a:rPr lang="en"/>
              <a:t>Facebook AI Similarity Search, for the vector database, from META.</a:t>
            </a:r>
            <a:endParaRPr/>
          </a:p>
          <a:p>
            <a:pPr indent="0" lvl="0" marL="0" rtl="0" algn="l">
              <a:spcBef>
                <a:spcPts val="0"/>
              </a:spcBef>
              <a:spcAft>
                <a:spcPts val="0"/>
              </a:spcAft>
              <a:buNone/>
            </a:pPr>
            <a:r>
              <a:rPr lang="en"/>
              <a:t>LangChain, to vectorize and index the database.</a:t>
            </a:r>
            <a:endParaRPr/>
          </a:p>
          <a:p>
            <a:pPr indent="0" lvl="0" marL="0" rtl="0" algn="l">
              <a:spcBef>
                <a:spcPts val="0"/>
              </a:spcBef>
              <a:spcAft>
                <a:spcPts val="0"/>
              </a:spcAft>
              <a:buNone/>
            </a:pPr>
            <a:r>
              <a:rPr lang="en"/>
              <a:t>React, for frontend implementation.</a:t>
            </a:r>
            <a:endParaRPr/>
          </a:p>
          <a:p>
            <a:pPr indent="0" lvl="0" marL="0" rtl="0" algn="l">
              <a:spcBef>
                <a:spcPts val="0"/>
              </a:spcBef>
              <a:spcAft>
                <a:spcPts val="0"/>
              </a:spcAft>
              <a:buNone/>
            </a:pPr>
            <a:r>
              <a:rPr lang="en"/>
              <a:t>GitHub and Google Colab, for code development.</a:t>
            </a:r>
            <a:endParaRPr/>
          </a:p>
          <a:p>
            <a:pPr indent="0" lvl="0" marL="0" rtl="0" algn="l">
              <a:spcBef>
                <a:spcPts val="0"/>
              </a:spcBef>
              <a:spcAft>
                <a:spcPts val="0"/>
              </a:spcAft>
              <a:buNone/>
            </a:pPr>
            <a:r>
              <a:rPr lang="en"/>
              <a:t>TTU High Performance Computing Center (HPCC), to run and fine tune the falcon model.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602aac45d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602aac45d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Falcon 7B and a tokenizer, from Hugging Face. Tokenizer prepares the inputs for the model, turns data into tokens.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went with the Falcon 7B model as it performs well when compared to other open-source models like MPT-7B and StableLM. As it is made available with the Apache 2.0 license, it is usable without royalties or restrictions. </a:t>
            </a:r>
            <a:endParaRPr>
              <a:solidFill>
                <a:schemeClr val="dk1"/>
              </a:solidFill>
            </a:endParaRPr>
          </a:p>
          <a:p>
            <a:pPr indent="0" lvl="0" marL="0" rtl="0" algn="l">
              <a:spcBef>
                <a:spcPts val="0"/>
              </a:spcBef>
              <a:spcAft>
                <a:spcPts val="0"/>
              </a:spcAft>
              <a:buNone/>
            </a:pPr>
            <a:r>
              <a:rPr lang="en">
                <a:solidFill>
                  <a:schemeClr val="dk1"/>
                </a:solidFill>
              </a:rPr>
              <a:t>It requires 16 GB of memory, so it’s a good middle ground for performance and usability. The Falcon 7B Model is also meant to be fine tuned for most usecases, making it the perfect fit for our project.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Tools</a:t>
            </a:r>
            <a:endParaRPr>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We opted for tools like Hugging Face tokenizer, Facebook AI Similarity Search, and LangChain due to their specific functionalities. These tools ensure efficient processing, storage, and retrieval of data within the project.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Facebook AI Similarity Search, for the vector database, from META.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LangChain, to vectorize and index the database</a:t>
            </a:r>
            <a:endParaRPr sz="1200">
              <a:solidFill>
                <a:srgbClr val="D1D5DB"/>
              </a:solidFill>
              <a:highlight>
                <a:srgbClr val="444654"/>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602aac45d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602aac45d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React, for frontend implementation.</a:t>
            </a:r>
            <a:endParaRPr>
              <a:solidFill>
                <a:schemeClr val="dk1"/>
              </a:solidFill>
            </a:endParaRPr>
          </a:p>
          <a:p>
            <a:pPr indent="0" lvl="0" marL="0" rtl="0" algn="l">
              <a:spcBef>
                <a:spcPts val="0"/>
              </a:spcBef>
              <a:spcAft>
                <a:spcPts val="0"/>
              </a:spcAft>
              <a:buNone/>
            </a:pPr>
            <a:r>
              <a:rPr lang="en" sz="1200">
                <a:solidFill>
                  <a:schemeClr val="dk1"/>
                </a:solidFill>
                <a:latin typeface="Roboto"/>
                <a:ea typeface="Roboto"/>
                <a:cs typeface="Roboto"/>
                <a:sym typeface="Roboto"/>
              </a:rPr>
              <a:t>GitHub and Google Colab facilitate collaborative development by providing version control and seamless teamwork capabilities. Additionally, utilizing HPCC ensures the efficient running and fine-tuning of the model, thereby optimizing the project's overall performance.</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GitHub and Google Colab, for code development.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TTU High Performance Computing Center (HPCC), to run and fine tune the falcon model.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5d1a042db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5d1a042db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Falcon 7B and a tokenizer, from Hugging Face. Tokenizer prepares the inputs for the model, turns data into tokens. </a:t>
            </a:r>
            <a:endParaRPr/>
          </a:p>
          <a:p>
            <a:pPr indent="0" lvl="0" marL="0" rtl="0" algn="l">
              <a:spcBef>
                <a:spcPts val="0"/>
              </a:spcBef>
              <a:spcAft>
                <a:spcPts val="0"/>
              </a:spcAft>
              <a:buNone/>
            </a:pPr>
            <a:r>
              <a:rPr lang="en"/>
              <a:t>We went with the Falcon 7B model as it performs well when compared to other open-source models like MPT-7B and StableLM. As it is made available with the Apache 2.0 license, it is usable without royalties or restrictions. </a:t>
            </a:r>
            <a:endParaRPr/>
          </a:p>
          <a:p>
            <a:pPr indent="0" lvl="0" marL="0" rtl="0" algn="l">
              <a:spcBef>
                <a:spcPts val="0"/>
              </a:spcBef>
              <a:spcAft>
                <a:spcPts val="0"/>
              </a:spcAft>
              <a:buNone/>
            </a:pPr>
            <a:r>
              <a:rPr lang="en"/>
              <a:t>It requires 16 GB of memory, so it’s a good middle ground for performance and usability. The Falcon 7B Model is also meant to be fine tuned for most usecases, making it the perfect fit for our project.</a:t>
            </a:r>
            <a:endParaRPr/>
          </a:p>
          <a:p>
            <a:pPr indent="0" lvl="0" marL="0" rtl="0" algn="l">
              <a:spcBef>
                <a:spcPts val="0"/>
              </a:spcBef>
              <a:spcAft>
                <a:spcPts val="0"/>
              </a:spcAft>
              <a:buNone/>
            </a:pPr>
            <a:r>
              <a:rPr lang="en"/>
              <a:t>Facebook AI Similarity Search, for the vector database, from META.</a:t>
            </a:r>
            <a:endParaRPr/>
          </a:p>
          <a:p>
            <a:pPr indent="0" lvl="0" marL="0" rtl="0" algn="l">
              <a:spcBef>
                <a:spcPts val="0"/>
              </a:spcBef>
              <a:spcAft>
                <a:spcPts val="0"/>
              </a:spcAft>
              <a:buNone/>
            </a:pPr>
            <a:r>
              <a:rPr lang="en"/>
              <a:t>LangChain, to vectorize and index the database.</a:t>
            </a:r>
            <a:endParaRPr/>
          </a:p>
          <a:p>
            <a:pPr indent="0" lvl="0" marL="0" rtl="0" algn="l">
              <a:spcBef>
                <a:spcPts val="0"/>
              </a:spcBef>
              <a:spcAft>
                <a:spcPts val="0"/>
              </a:spcAft>
              <a:buNone/>
            </a:pPr>
            <a:r>
              <a:rPr lang="en"/>
              <a:t>React, for frontend implementation.</a:t>
            </a:r>
            <a:endParaRPr/>
          </a:p>
          <a:p>
            <a:pPr indent="0" lvl="0" marL="0" rtl="0" algn="l">
              <a:spcBef>
                <a:spcPts val="0"/>
              </a:spcBef>
              <a:spcAft>
                <a:spcPts val="0"/>
              </a:spcAft>
              <a:buNone/>
            </a:pPr>
            <a:r>
              <a:rPr lang="en"/>
              <a:t>GitHub and Google Colab, for code development.</a:t>
            </a:r>
            <a:endParaRPr/>
          </a:p>
          <a:p>
            <a:pPr indent="0" lvl="0" marL="0" rtl="0" algn="l">
              <a:spcBef>
                <a:spcPts val="0"/>
              </a:spcBef>
              <a:spcAft>
                <a:spcPts val="0"/>
              </a:spcAft>
              <a:buNone/>
            </a:pPr>
            <a:r>
              <a:rPr lang="en"/>
              <a:t>TTU High Performance Computing Center (HPCC), to run and fine tune the falcon model.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94825bf0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294825bf0d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AF-TOs contain a large amount of information, from technical definitions and explanations, to disclosures and other things pertaining to legality. One thing that was emphasized in our interviews was to prioritize returning correct definitions and explanations, rather than the disclosures and other related things.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 also discussed using Retrieval Augmented Generation, RAG, as the primary means of ordering our data. RAG will allow the LLM to search through a database for information related to the user’s question.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last thing of importance in our interview was implementing a user guide on the webpage for the LLM. This would instruct the user on the proper syntax and guidelines for asking a question, one of these being to only ask one question at a time.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As a “stretch goal”, we discussed implementing an “Access Level” tool. This would allow the user to select some level of classification or access that they have, and would answer questions related to the documents they have access to. It was said to implement this as a proof of concept, having the user select which level of access they have rather than restricting it by an ID/Password system.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5d1a042db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25d1a042dba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AF-TOs contain a large amount of information, from technical definitions and explanations, to disclosures and other things pertaining to legality. One thing that was emphasized in our interviews was to prioritize returning correct definitions and explanations, rather than the disclosures and other related things.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 also discussed using Retrieval Augmented Generation, RAG, as the primary means of ordering our data. RAG will allow the LLM to search through a database for information related to the user’s question.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last thing of importance in our interview was implementing a user guide on the webpage for the LLM. This would instruct the user on the proper syntax and guidelines for asking a question, one of these being to only ask one question at a time.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As a “stretch goal”, we discussed implementing an “Access Level” tool. This would allow the user to select some level of classification or access that they have, and would answer questions related to the documents they have access to. It was said to implement this as a proof of concept, having the user select which level of access they have rather than restricting it by an ID/Password system.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5d1a042dba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25d1a042dba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AF-TOs contain a large amount of information, from technical definitions and explanations, to disclosures and other things pertaining to legality. One thing that was emphasized in our interviews was to prioritize returning correct definitions and explanations, rather than the disclosures and other related things.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 also discussed using Retrieval Augmented Generation, RAG, as the primary means of ordering our data. RAG will allow the LLM to search through a database for information related to the user’s question.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last thing of importance in our interview was implementing a user guide on the webpage for the LLM. This would instruct the user on the proper syntax and guidelines for asking a question, one of these being to only ask one question at a time.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As a “stretch goal”, we discussed implementing an “Access Level” tool. This would allow the user to select some level of classification or access that they have, and would answer questions related to the documents they have access to. It was said to implement this as a proof of concept, having the user select which level of access they have rather than restricting it by an ID/Password system.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5d1a042db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25d1a042dba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solidFill>
                  <a:srgbClr val="0B5394"/>
                </a:solidFill>
              </a:rPr>
              <a:t>Rolling Thunder</a:t>
            </a:r>
            <a:endParaRPr>
              <a:solidFill>
                <a:srgbClr val="0B5394"/>
              </a:solidFill>
            </a:endParaRPr>
          </a:p>
        </p:txBody>
      </p:sp>
      <p:sp>
        <p:nvSpPr>
          <p:cNvPr id="63" name="Google Shape;63;p13"/>
          <p:cNvSpPr txBox="1"/>
          <p:nvPr>
            <p:ph idx="1" type="subTitle"/>
          </p:nvPr>
        </p:nvSpPr>
        <p:spPr>
          <a:xfrm>
            <a:off x="2849775" y="3116575"/>
            <a:ext cx="3468300" cy="9219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SzPts val="2800"/>
              <a:buNone/>
            </a:pPr>
            <a:r>
              <a:rPr lang="en" sz="1700">
                <a:solidFill>
                  <a:schemeClr val="dk1"/>
                </a:solidFill>
              </a:rPr>
              <a:t>By : David Vaughan, Roman Tait, </a:t>
            </a:r>
            <a:endParaRPr sz="1700">
              <a:solidFill>
                <a:schemeClr val="dk1"/>
              </a:solidFill>
            </a:endParaRPr>
          </a:p>
          <a:p>
            <a:pPr indent="0" lvl="0" marL="0" rtl="0" algn="ctr">
              <a:lnSpc>
                <a:spcPct val="100000"/>
              </a:lnSpc>
              <a:spcBef>
                <a:spcPts val="0"/>
              </a:spcBef>
              <a:spcAft>
                <a:spcPts val="0"/>
              </a:spcAft>
              <a:buSzPts val="2800"/>
              <a:buNone/>
            </a:pPr>
            <a:r>
              <a:rPr lang="en" sz="1700">
                <a:solidFill>
                  <a:schemeClr val="dk1"/>
                </a:solidFill>
              </a:rPr>
              <a:t>Tucker Hoffnagle, Karlton Hall, </a:t>
            </a:r>
            <a:endParaRPr sz="1700">
              <a:solidFill>
                <a:schemeClr val="dk1"/>
              </a:solidFill>
            </a:endParaRPr>
          </a:p>
          <a:p>
            <a:pPr indent="0" lvl="0" marL="0" rtl="0" algn="ctr">
              <a:lnSpc>
                <a:spcPct val="100000"/>
              </a:lnSpc>
              <a:spcBef>
                <a:spcPts val="0"/>
              </a:spcBef>
              <a:spcAft>
                <a:spcPts val="0"/>
              </a:spcAft>
              <a:buSzPts val="2800"/>
              <a:buNone/>
            </a:pPr>
            <a:r>
              <a:rPr lang="en" sz="1700">
                <a:solidFill>
                  <a:schemeClr val="dk1"/>
                </a:solidFill>
              </a:rPr>
              <a:t>Harrison Whitworth</a:t>
            </a:r>
            <a:endParaRPr sz="17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Project Overview - Reminder</a:t>
            </a:r>
            <a:endParaRPr>
              <a:solidFill>
                <a:srgbClr val="0B5394"/>
              </a:solidFill>
            </a:endParaRPr>
          </a:p>
        </p:txBody>
      </p:sp>
      <p:sp>
        <p:nvSpPr>
          <p:cNvPr id="69" name="Google Shape;69;p14"/>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365125" lvl="0" marL="457200" rtl="0" algn="l">
              <a:lnSpc>
                <a:spcPct val="115000"/>
              </a:lnSpc>
              <a:spcBef>
                <a:spcPts val="0"/>
              </a:spcBef>
              <a:spcAft>
                <a:spcPts val="0"/>
              </a:spcAft>
              <a:buClr>
                <a:schemeClr val="dk1"/>
              </a:buClr>
              <a:buSzPts val="2150"/>
              <a:buChar char="●"/>
            </a:pPr>
            <a:r>
              <a:rPr lang="en" sz="2150"/>
              <a:t>LLM Assisted Technical Order Management Tool</a:t>
            </a:r>
            <a:endParaRPr sz="2150"/>
          </a:p>
          <a:p>
            <a:pPr indent="-365125" lvl="0" marL="457200" rtl="0" algn="l">
              <a:lnSpc>
                <a:spcPct val="115000"/>
              </a:lnSpc>
              <a:spcBef>
                <a:spcPts val="0"/>
              </a:spcBef>
              <a:spcAft>
                <a:spcPts val="0"/>
              </a:spcAft>
              <a:buClr>
                <a:schemeClr val="dk1"/>
              </a:buClr>
              <a:buSzPts val="2150"/>
              <a:buChar char="●"/>
            </a:pPr>
            <a:r>
              <a:rPr lang="en" sz="2150"/>
              <a:t>P</a:t>
            </a:r>
            <a:r>
              <a:rPr lang="en" sz="2150">
                <a:solidFill>
                  <a:schemeClr val="dk1"/>
                </a:solidFill>
              </a:rPr>
              <a:t>rovide a Large Language Model (LLM) that has the capability to search and implement Air Force Technical Order Management specifications and directions</a:t>
            </a:r>
            <a:r>
              <a:rPr lang="en" sz="2150"/>
              <a:t>.</a:t>
            </a:r>
            <a:endParaRPr sz="2150">
              <a:solidFill>
                <a:schemeClr val="dk1"/>
              </a:solidFill>
            </a:endParaRPr>
          </a:p>
        </p:txBody>
      </p:sp>
      <p:pic>
        <p:nvPicPr>
          <p:cNvPr id="70" name="Google Shape;70;p14"/>
          <p:cNvPicPr preferRelativeResize="0"/>
          <p:nvPr/>
        </p:nvPicPr>
        <p:blipFill>
          <a:blip r:embed="rId3">
            <a:alphaModFix/>
          </a:blip>
          <a:stretch>
            <a:fillRect/>
          </a:stretch>
        </p:blipFill>
        <p:spPr>
          <a:xfrm>
            <a:off x="733013" y="3770176"/>
            <a:ext cx="7677975" cy="1167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Project Requirements - Reminder</a:t>
            </a:r>
            <a:endParaRPr>
              <a:solidFill>
                <a:srgbClr val="0B5394"/>
              </a:solidFill>
            </a:endParaRPr>
          </a:p>
        </p:txBody>
      </p:sp>
      <p:sp>
        <p:nvSpPr>
          <p:cNvPr id="76" name="Google Shape;76;p15"/>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365125" lvl="0" marL="457200" rtl="0" algn="l">
              <a:lnSpc>
                <a:spcPct val="115000"/>
              </a:lnSpc>
              <a:spcBef>
                <a:spcPts val="0"/>
              </a:spcBef>
              <a:spcAft>
                <a:spcPts val="0"/>
              </a:spcAft>
              <a:buClr>
                <a:schemeClr val="dk1"/>
              </a:buClr>
              <a:buSzPts val="2150"/>
              <a:buChar char="●"/>
            </a:pPr>
            <a:r>
              <a:rPr lang="en" sz="2150">
                <a:solidFill>
                  <a:schemeClr val="dk1"/>
                </a:solidFill>
              </a:rPr>
              <a:t>Question/Answer capability (through website)</a:t>
            </a:r>
            <a:endParaRPr sz="2150">
              <a:solidFill>
                <a:schemeClr val="dk1"/>
              </a:solidFill>
            </a:endParaRPr>
          </a:p>
          <a:p>
            <a:pPr indent="-365125" lvl="0" marL="457200" rtl="0" algn="l">
              <a:lnSpc>
                <a:spcPct val="115000"/>
              </a:lnSpc>
              <a:spcBef>
                <a:spcPts val="0"/>
              </a:spcBef>
              <a:spcAft>
                <a:spcPts val="0"/>
              </a:spcAft>
              <a:buClr>
                <a:schemeClr val="dk1"/>
              </a:buClr>
              <a:buSzPts val="2150"/>
              <a:buChar char="●"/>
            </a:pPr>
            <a:r>
              <a:rPr lang="en" sz="2150">
                <a:solidFill>
                  <a:schemeClr val="dk1"/>
                </a:solidFill>
              </a:rPr>
              <a:t>Accuracy verification capability (no hallucinations)</a:t>
            </a:r>
            <a:endParaRPr sz="2150">
              <a:solidFill>
                <a:schemeClr val="dk1"/>
              </a:solidFill>
            </a:endParaRPr>
          </a:p>
          <a:p>
            <a:pPr indent="-365125" lvl="0" marL="457200" rtl="0" algn="l">
              <a:lnSpc>
                <a:spcPct val="115000"/>
              </a:lnSpc>
              <a:spcBef>
                <a:spcPts val="0"/>
              </a:spcBef>
              <a:spcAft>
                <a:spcPts val="0"/>
              </a:spcAft>
              <a:buClr>
                <a:schemeClr val="dk1"/>
              </a:buClr>
              <a:buSzPts val="2150"/>
              <a:buChar char="●"/>
            </a:pPr>
            <a:r>
              <a:rPr lang="en" sz="2150">
                <a:solidFill>
                  <a:schemeClr val="dk1"/>
                </a:solidFill>
              </a:rPr>
              <a:t>Traceability of data source (indicated in responses)</a:t>
            </a:r>
            <a:endParaRPr sz="2150">
              <a:solidFill>
                <a:schemeClr val="dk1"/>
              </a:solidFill>
            </a:endParaRPr>
          </a:p>
          <a:p>
            <a:pPr indent="-365125" lvl="0" marL="457200" rtl="0" algn="l">
              <a:lnSpc>
                <a:spcPct val="115000"/>
              </a:lnSpc>
              <a:spcBef>
                <a:spcPts val="0"/>
              </a:spcBef>
              <a:spcAft>
                <a:spcPts val="0"/>
              </a:spcAft>
              <a:buClr>
                <a:schemeClr val="dk1"/>
              </a:buClr>
              <a:buSzPts val="2150"/>
              <a:buChar char="●"/>
            </a:pPr>
            <a:r>
              <a:rPr lang="en" sz="2150">
                <a:solidFill>
                  <a:schemeClr val="dk1"/>
                </a:solidFill>
              </a:rPr>
              <a:t>Respond to user input </a:t>
            </a:r>
            <a:r>
              <a:rPr lang="en" sz="2150"/>
              <a:t>within</a:t>
            </a:r>
            <a:r>
              <a:rPr lang="en" sz="2150">
                <a:solidFill>
                  <a:schemeClr val="dk1"/>
                </a:solidFill>
              </a:rPr>
              <a:t> 3 seconds</a:t>
            </a:r>
            <a:r>
              <a:rPr lang="en" sz="2150"/>
              <a:t> (or use loading bar)</a:t>
            </a:r>
            <a:endParaRPr sz="2150">
              <a:solidFill>
                <a:schemeClr val="dk1"/>
              </a:solidFill>
            </a:endParaRPr>
          </a:p>
          <a:p>
            <a:pPr indent="-365125" lvl="0" marL="457200" rtl="0" algn="l">
              <a:lnSpc>
                <a:spcPct val="115000"/>
              </a:lnSpc>
              <a:spcBef>
                <a:spcPts val="0"/>
              </a:spcBef>
              <a:spcAft>
                <a:spcPts val="0"/>
              </a:spcAft>
              <a:buSzPts val="2150"/>
              <a:buChar char="●"/>
            </a:pPr>
            <a:r>
              <a:rPr lang="en" sz="2150"/>
              <a:t>Be available online through a website (github)</a:t>
            </a:r>
            <a:endParaRPr sz="215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Implementation Methods - Reminder</a:t>
            </a:r>
            <a:endParaRPr>
              <a:solidFill>
                <a:srgbClr val="0B5394"/>
              </a:solidFill>
            </a:endParaRPr>
          </a:p>
        </p:txBody>
      </p:sp>
      <p:sp>
        <p:nvSpPr>
          <p:cNvPr id="82" name="Google Shape;82;p16"/>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fontScale="92500" lnSpcReduction="20000"/>
          </a:bodyPr>
          <a:lstStyle/>
          <a:p>
            <a:pPr indent="-378466" lvl="0" marL="457200" rtl="0" algn="l">
              <a:lnSpc>
                <a:spcPct val="115000"/>
              </a:lnSpc>
              <a:spcBef>
                <a:spcPts val="0"/>
              </a:spcBef>
              <a:spcAft>
                <a:spcPts val="0"/>
              </a:spcAft>
              <a:buClr>
                <a:schemeClr val="lt2"/>
              </a:buClr>
              <a:buSzPct val="100000"/>
              <a:buChar char="●"/>
            </a:pPr>
            <a:r>
              <a:rPr lang="en" sz="2551">
                <a:solidFill>
                  <a:schemeClr val="lt2"/>
                </a:solidFill>
              </a:rPr>
              <a:t>Retrieval-augmented generation (RAG). </a:t>
            </a:r>
            <a:endParaRPr sz="2551">
              <a:solidFill>
                <a:schemeClr val="lt2"/>
              </a:solidFill>
            </a:endParaRPr>
          </a:p>
          <a:p>
            <a:pPr indent="-354944" lvl="1" marL="914400" rtl="0" algn="l">
              <a:lnSpc>
                <a:spcPct val="115000"/>
              </a:lnSpc>
              <a:spcBef>
                <a:spcPts val="0"/>
              </a:spcBef>
              <a:spcAft>
                <a:spcPts val="0"/>
              </a:spcAft>
              <a:buClr>
                <a:schemeClr val="dk1"/>
              </a:buClr>
              <a:buSzPct val="100000"/>
              <a:buChar char="○"/>
            </a:pPr>
            <a:r>
              <a:rPr lang="en" sz="2151"/>
              <a:t>Search database using tokenized question and providing LLM with question and relevant documents</a:t>
            </a:r>
            <a:endParaRPr sz="2151"/>
          </a:p>
          <a:p>
            <a:pPr indent="0" lvl="0" marL="914400" rtl="0" algn="l">
              <a:lnSpc>
                <a:spcPct val="115000"/>
              </a:lnSpc>
              <a:spcBef>
                <a:spcPts val="0"/>
              </a:spcBef>
              <a:spcAft>
                <a:spcPts val="0"/>
              </a:spcAft>
              <a:buNone/>
            </a:pPr>
            <a:r>
              <a:t/>
            </a:r>
            <a:endParaRPr sz="2151"/>
          </a:p>
          <a:p>
            <a:pPr indent="-378439" lvl="0" marL="457200" rtl="0" algn="l">
              <a:lnSpc>
                <a:spcPct val="115000"/>
              </a:lnSpc>
              <a:spcBef>
                <a:spcPts val="0"/>
              </a:spcBef>
              <a:spcAft>
                <a:spcPts val="0"/>
              </a:spcAft>
              <a:buClr>
                <a:schemeClr val="lt2"/>
              </a:buClr>
              <a:buSzPct val="100000"/>
              <a:buChar char="●"/>
            </a:pPr>
            <a:r>
              <a:rPr lang="en" sz="2551">
                <a:solidFill>
                  <a:schemeClr val="lt2"/>
                </a:solidFill>
              </a:rPr>
              <a:t>Fine Tuning</a:t>
            </a:r>
            <a:endParaRPr sz="2551">
              <a:solidFill>
                <a:schemeClr val="lt2"/>
              </a:solidFill>
            </a:endParaRPr>
          </a:p>
          <a:p>
            <a:pPr indent="-354944" lvl="1" marL="914400" rtl="0" algn="l">
              <a:lnSpc>
                <a:spcPct val="115000"/>
              </a:lnSpc>
              <a:spcBef>
                <a:spcPts val="0"/>
              </a:spcBef>
              <a:spcAft>
                <a:spcPts val="0"/>
              </a:spcAft>
              <a:buSzPct val="100000"/>
              <a:buChar char="○"/>
            </a:pPr>
            <a:r>
              <a:rPr lang="en" sz="2151"/>
              <a:t>Modify LLM to provide better answers from the question and documents given</a:t>
            </a:r>
            <a:endParaRPr sz="2151"/>
          </a:p>
          <a:p>
            <a:pPr indent="0" lvl="0" marL="0" rtl="0" algn="l">
              <a:lnSpc>
                <a:spcPct val="115000"/>
              </a:lnSpc>
              <a:spcBef>
                <a:spcPts val="0"/>
              </a:spcBef>
              <a:spcAft>
                <a:spcPts val="0"/>
              </a:spcAft>
              <a:buNone/>
            </a:pPr>
            <a:r>
              <a:t/>
            </a:r>
            <a:endParaRPr sz="2151"/>
          </a:p>
          <a:p>
            <a:pPr indent="0" lvl="0" marL="914400" rtl="0" algn="l">
              <a:lnSpc>
                <a:spcPct val="115000"/>
              </a:lnSpc>
              <a:spcBef>
                <a:spcPts val="0"/>
              </a:spcBef>
              <a:spcAft>
                <a:spcPts val="0"/>
              </a:spcAft>
              <a:buNone/>
            </a:pPr>
            <a:r>
              <a:t/>
            </a:r>
            <a:endParaRPr sz="2151"/>
          </a:p>
          <a:p>
            <a:pPr indent="0" lvl="0" marL="914400" rtl="0" algn="l">
              <a:lnSpc>
                <a:spcPct val="115000"/>
              </a:lnSpc>
              <a:spcBef>
                <a:spcPts val="0"/>
              </a:spcBef>
              <a:spcAft>
                <a:spcPts val="0"/>
              </a:spcAft>
              <a:buNone/>
            </a:pPr>
            <a:r>
              <a:t/>
            </a:r>
            <a:endParaRPr sz="215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rgbClr val="0D3E7F"/>
                </a:solidFill>
              </a:rPr>
              <a:t>Implementation Plan</a:t>
            </a:r>
            <a:endParaRPr>
              <a:solidFill>
                <a:srgbClr val="0D3E7F"/>
              </a:solidFill>
            </a:endParaRPr>
          </a:p>
        </p:txBody>
      </p:sp>
      <p:sp>
        <p:nvSpPr>
          <p:cNvPr id="88" name="Google Shape;88;p17"/>
          <p:cNvSpPr txBox="1"/>
          <p:nvPr>
            <p:ph idx="1" type="body"/>
          </p:nvPr>
        </p:nvSpPr>
        <p:spPr>
          <a:xfrm>
            <a:off x="311700" y="1225225"/>
            <a:ext cx="39597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lt2"/>
                </a:solidFill>
              </a:rPr>
              <a:t>First Stage</a:t>
            </a:r>
            <a:endParaRPr u="sng">
              <a:solidFill>
                <a:schemeClr val="lt2"/>
              </a:solidFill>
            </a:endParaRPr>
          </a:p>
          <a:p>
            <a:pPr indent="-330200" lvl="0" marL="457200" rtl="0" algn="l">
              <a:spcBef>
                <a:spcPts val="1200"/>
              </a:spcBef>
              <a:spcAft>
                <a:spcPts val="0"/>
              </a:spcAft>
              <a:buSzPts val="1600"/>
              <a:buChar char="●"/>
            </a:pPr>
            <a:r>
              <a:rPr lang="en" sz="1600"/>
              <a:t>Base website capability -Karlton</a:t>
            </a:r>
            <a:endParaRPr sz="1600"/>
          </a:p>
          <a:p>
            <a:pPr indent="-317500" lvl="1" marL="914400" rtl="0" algn="l">
              <a:spcBef>
                <a:spcPts val="0"/>
              </a:spcBef>
              <a:spcAft>
                <a:spcPts val="0"/>
              </a:spcAft>
              <a:buSzPts val="1400"/>
              <a:buChar char="○"/>
            </a:pPr>
            <a:r>
              <a:rPr lang="en"/>
              <a:t>Accept queries</a:t>
            </a:r>
            <a:endParaRPr/>
          </a:p>
          <a:p>
            <a:pPr indent="-317500" lvl="1" marL="914400" rtl="0" algn="l">
              <a:spcBef>
                <a:spcPts val="0"/>
              </a:spcBef>
              <a:spcAft>
                <a:spcPts val="0"/>
              </a:spcAft>
              <a:buSzPts val="1400"/>
              <a:buChar char="○"/>
            </a:pPr>
            <a:r>
              <a:rPr lang="en"/>
              <a:t>Relay information</a:t>
            </a:r>
            <a:endParaRPr/>
          </a:p>
          <a:p>
            <a:pPr indent="-317500" lvl="1" marL="914400" rtl="0" algn="l">
              <a:spcBef>
                <a:spcPts val="0"/>
              </a:spcBef>
              <a:spcAft>
                <a:spcPts val="0"/>
              </a:spcAft>
              <a:buSzPts val="1400"/>
              <a:buChar char="○"/>
            </a:pPr>
            <a:r>
              <a:rPr lang="en"/>
              <a:t>Display answers</a:t>
            </a:r>
            <a:endParaRPr/>
          </a:p>
          <a:p>
            <a:pPr indent="-330200" lvl="0" marL="457200" rtl="0" algn="l">
              <a:spcBef>
                <a:spcPts val="0"/>
              </a:spcBef>
              <a:spcAft>
                <a:spcPts val="0"/>
              </a:spcAft>
              <a:buSzPts val="1600"/>
              <a:buChar char="●"/>
            </a:pPr>
            <a:r>
              <a:rPr lang="en" sz="1600"/>
              <a:t>Semantic search capability -David</a:t>
            </a:r>
            <a:endParaRPr sz="1600"/>
          </a:p>
          <a:p>
            <a:pPr indent="-317500" lvl="1" marL="914400" rtl="0" algn="l">
              <a:spcBef>
                <a:spcPts val="0"/>
              </a:spcBef>
              <a:spcAft>
                <a:spcPts val="0"/>
              </a:spcAft>
              <a:buSzPts val="1400"/>
              <a:buChar char="○"/>
            </a:pPr>
            <a:r>
              <a:rPr lang="en"/>
              <a:t>Tokenization/Vectorization</a:t>
            </a:r>
            <a:endParaRPr/>
          </a:p>
          <a:p>
            <a:pPr indent="-317500" lvl="1" marL="914400" rtl="0" algn="l">
              <a:spcBef>
                <a:spcPts val="0"/>
              </a:spcBef>
              <a:spcAft>
                <a:spcPts val="0"/>
              </a:spcAft>
              <a:buSzPts val="1400"/>
              <a:buChar char="○"/>
            </a:pPr>
            <a:r>
              <a:rPr lang="en"/>
              <a:t>Database searching</a:t>
            </a:r>
            <a:endParaRPr/>
          </a:p>
          <a:p>
            <a:pPr indent="-317500" lvl="1" marL="914400" rtl="0" algn="l">
              <a:spcBef>
                <a:spcPts val="0"/>
              </a:spcBef>
              <a:spcAft>
                <a:spcPts val="0"/>
              </a:spcAft>
              <a:buSzPts val="1400"/>
              <a:buChar char="○"/>
            </a:pPr>
            <a:r>
              <a:rPr lang="en"/>
              <a:t>Relaying info to LLM</a:t>
            </a:r>
            <a:endParaRPr/>
          </a:p>
          <a:p>
            <a:pPr indent="-330200" lvl="0" marL="457200" rtl="0" algn="l">
              <a:spcBef>
                <a:spcPts val="0"/>
              </a:spcBef>
              <a:spcAft>
                <a:spcPts val="0"/>
              </a:spcAft>
              <a:buSzPts val="1600"/>
              <a:buChar char="●"/>
            </a:pPr>
            <a:r>
              <a:rPr lang="en" sz="1600"/>
              <a:t>Base LLM capability -Team</a:t>
            </a:r>
            <a:endParaRPr sz="1600"/>
          </a:p>
          <a:p>
            <a:pPr indent="-317500" lvl="1" marL="914400" rtl="0" algn="l">
              <a:spcBef>
                <a:spcPts val="0"/>
              </a:spcBef>
              <a:spcAft>
                <a:spcPts val="0"/>
              </a:spcAft>
              <a:buSzPts val="1400"/>
              <a:buChar char="○"/>
            </a:pPr>
            <a:r>
              <a:rPr lang="en"/>
              <a:t>Relatively reliable answers</a:t>
            </a:r>
            <a:endParaRPr/>
          </a:p>
        </p:txBody>
      </p:sp>
      <p:sp>
        <p:nvSpPr>
          <p:cNvPr id="89" name="Google Shape;89;p17"/>
          <p:cNvSpPr txBox="1"/>
          <p:nvPr>
            <p:ph idx="4294967295" type="body"/>
          </p:nvPr>
        </p:nvSpPr>
        <p:spPr>
          <a:xfrm>
            <a:off x="4832400" y="1225225"/>
            <a:ext cx="3999900" cy="146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lt2"/>
                </a:solidFill>
              </a:rPr>
              <a:t>Second Stage</a:t>
            </a:r>
            <a:endParaRPr u="sng">
              <a:solidFill>
                <a:schemeClr val="lt2"/>
              </a:solidFill>
            </a:endParaRPr>
          </a:p>
          <a:p>
            <a:pPr indent="-330200" lvl="0" marL="457200" rtl="0" algn="l">
              <a:spcBef>
                <a:spcPts val="1200"/>
              </a:spcBef>
              <a:spcAft>
                <a:spcPts val="0"/>
              </a:spcAft>
              <a:buSzPts val="1600"/>
              <a:buChar char="●"/>
            </a:pPr>
            <a:r>
              <a:rPr lang="en" sz="1600"/>
              <a:t>Training LLM to provide better answers -Team</a:t>
            </a:r>
            <a:endParaRPr sz="1600"/>
          </a:p>
          <a:p>
            <a:pPr indent="-317500" lvl="1" marL="914400" rtl="0" algn="l">
              <a:spcBef>
                <a:spcPts val="0"/>
              </a:spcBef>
              <a:spcAft>
                <a:spcPts val="0"/>
              </a:spcAft>
              <a:buSzPts val="1400"/>
              <a:buChar char="○"/>
            </a:pPr>
            <a:r>
              <a:rPr lang="en"/>
              <a:t>Add source document and page</a:t>
            </a:r>
            <a:endParaRPr/>
          </a:p>
        </p:txBody>
      </p:sp>
      <p:sp>
        <p:nvSpPr>
          <p:cNvPr id="90" name="Google Shape;90;p17"/>
          <p:cNvSpPr txBox="1"/>
          <p:nvPr>
            <p:ph idx="4294967295" type="body"/>
          </p:nvPr>
        </p:nvSpPr>
        <p:spPr>
          <a:xfrm>
            <a:off x="4832400" y="2527400"/>
            <a:ext cx="3999900" cy="2305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u="sng">
                <a:solidFill>
                  <a:schemeClr val="lt2"/>
                </a:solidFill>
              </a:rPr>
              <a:t>Third Stage</a:t>
            </a:r>
            <a:endParaRPr u="sng">
              <a:solidFill>
                <a:schemeClr val="lt2"/>
              </a:solidFill>
            </a:endParaRPr>
          </a:p>
          <a:p>
            <a:pPr indent="-330200" lvl="0" marL="457200" rtl="0" algn="l">
              <a:spcBef>
                <a:spcPts val="1200"/>
              </a:spcBef>
              <a:spcAft>
                <a:spcPts val="0"/>
              </a:spcAft>
              <a:buSzPts val="1600"/>
              <a:buChar char="●"/>
            </a:pPr>
            <a:r>
              <a:rPr lang="en" sz="1600"/>
              <a:t>Finishing touches -Team</a:t>
            </a:r>
            <a:endParaRPr sz="1600"/>
          </a:p>
          <a:p>
            <a:pPr indent="-317500" lvl="1" marL="914400" rtl="0" algn="l">
              <a:spcBef>
                <a:spcPts val="0"/>
              </a:spcBef>
              <a:spcAft>
                <a:spcPts val="0"/>
              </a:spcAft>
              <a:buSzPts val="1400"/>
              <a:buChar char="○"/>
            </a:pPr>
            <a:r>
              <a:rPr lang="en"/>
              <a:t>Helpful tips on website</a:t>
            </a:r>
            <a:endParaRPr/>
          </a:p>
          <a:p>
            <a:pPr indent="-317500" lvl="1" marL="914400" rtl="0" algn="l">
              <a:spcBef>
                <a:spcPts val="0"/>
              </a:spcBef>
              <a:spcAft>
                <a:spcPts val="0"/>
              </a:spcAft>
              <a:buSzPts val="1400"/>
              <a:buChar char="○"/>
            </a:pPr>
            <a:r>
              <a:rPr lang="en"/>
              <a:t>Make website professional</a:t>
            </a:r>
            <a:endParaRPr/>
          </a:p>
          <a:p>
            <a:pPr indent="-317500" lvl="1" marL="914400" rtl="0" algn="l">
              <a:spcBef>
                <a:spcPts val="0"/>
              </a:spcBef>
              <a:spcAft>
                <a:spcPts val="0"/>
              </a:spcAft>
              <a:buSzPts val="1400"/>
              <a:buChar char="○"/>
            </a:pPr>
            <a:r>
              <a:rPr lang="en"/>
              <a:t>Add loading b</a:t>
            </a:r>
            <a:r>
              <a:rPr lang="en"/>
              <a:t>ar</a:t>
            </a:r>
            <a:endParaRPr/>
          </a:p>
          <a:p>
            <a:pPr indent="-330200" lvl="0" marL="457200" rtl="0" algn="l">
              <a:spcBef>
                <a:spcPts val="0"/>
              </a:spcBef>
              <a:spcAft>
                <a:spcPts val="0"/>
              </a:spcAft>
              <a:buSzPts val="1600"/>
              <a:buChar char="●"/>
            </a:pPr>
            <a:r>
              <a:rPr lang="en" sz="1600"/>
              <a:t>Stretch Goals -Team</a:t>
            </a:r>
            <a:endParaRPr sz="1600"/>
          </a:p>
          <a:p>
            <a:pPr indent="-317500" lvl="1" marL="914400" rtl="0" algn="l">
              <a:spcBef>
                <a:spcPts val="0"/>
              </a:spcBef>
              <a:spcAft>
                <a:spcPts val="0"/>
              </a:spcAft>
              <a:buSzPts val="1400"/>
              <a:buChar char="○"/>
            </a:pPr>
            <a:r>
              <a:rPr lang="en"/>
              <a:t>Access Control</a:t>
            </a:r>
            <a:endParaRPr/>
          </a:p>
          <a:p>
            <a:pPr indent="-317500" lvl="1" marL="914400" rtl="0" algn="l">
              <a:spcBef>
                <a:spcPts val="0"/>
              </a:spcBef>
              <a:spcAft>
                <a:spcPts val="0"/>
              </a:spcAft>
              <a:buSzPts val="1400"/>
              <a:buChar char="○"/>
            </a:pPr>
            <a:r>
              <a:rPr lang="en"/>
              <a:t>Limit test with additional manuals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rgbClr val="0B5394"/>
                </a:solidFill>
              </a:rPr>
              <a:t>Implementation Tools</a:t>
            </a:r>
            <a:endParaRPr>
              <a:solidFill>
                <a:srgbClr val="0B5394"/>
              </a:solidFill>
            </a:endParaRPr>
          </a:p>
        </p:txBody>
      </p:sp>
      <p:pic>
        <p:nvPicPr>
          <p:cNvPr id="96" name="Google Shape;96;p18"/>
          <p:cNvPicPr preferRelativeResize="0"/>
          <p:nvPr/>
        </p:nvPicPr>
        <p:blipFill>
          <a:blip r:embed="rId3">
            <a:alphaModFix/>
          </a:blip>
          <a:stretch>
            <a:fillRect/>
          </a:stretch>
        </p:blipFill>
        <p:spPr>
          <a:xfrm>
            <a:off x="1504750" y="3274575"/>
            <a:ext cx="1449325" cy="1449325"/>
          </a:xfrm>
          <a:prstGeom prst="rect">
            <a:avLst/>
          </a:prstGeom>
          <a:noFill/>
          <a:ln>
            <a:noFill/>
          </a:ln>
        </p:spPr>
      </p:pic>
      <p:pic>
        <p:nvPicPr>
          <p:cNvPr id="97" name="Google Shape;97;p18"/>
          <p:cNvPicPr preferRelativeResize="0"/>
          <p:nvPr/>
        </p:nvPicPr>
        <p:blipFill>
          <a:blip r:embed="rId4">
            <a:alphaModFix/>
          </a:blip>
          <a:stretch>
            <a:fillRect/>
          </a:stretch>
        </p:blipFill>
        <p:spPr>
          <a:xfrm>
            <a:off x="3844913" y="3435149"/>
            <a:ext cx="1735024" cy="1069488"/>
          </a:xfrm>
          <a:prstGeom prst="rect">
            <a:avLst/>
          </a:prstGeom>
          <a:noFill/>
          <a:ln>
            <a:noFill/>
          </a:ln>
        </p:spPr>
      </p:pic>
      <p:pic>
        <p:nvPicPr>
          <p:cNvPr id="98" name="Google Shape;98;p18"/>
          <p:cNvPicPr preferRelativeResize="0"/>
          <p:nvPr/>
        </p:nvPicPr>
        <p:blipFill>
          <a:blip r:embed="rId5">
            <a:alphaModFix/>
          </a:blip>
          <a:stretch>
            <a:fillRect/>
          </a:stretch>
        </p:blipFill>
        <p:spPr>
          <a:xfrm>
            <a:off x="116474" y="1141037"/>
            <a:ext cx="1735025" cy="1735002"/>
          </a:xfrm>
          <a:prstGeom prst="rect">
            <a:avLst/>
          </a:prstGeom>
          <a:noFill/>
          <a:ln>
            <a:noFill/>
          </a:ln>
        </p:spPr>
      </p:pic>
      <p:pic>
        <p:nvPicPr>
          <p:cNvPr id="99" name="Google Shape;99;p18"/>
          <p:cNvPicPr preferRelativeResize="0"/>
          <p:nvPr/>
        </p:nvPicPr>
        <p:blipFill>
          <a:blip r:embed="rId6">
            <a:alphaModFix/>
          </a:blip>
          <a:stretch>
            <a:fillRect/>
          </a:stretch>
        </p:blipFill>
        <p:spPr>
          <a:xfrm>
            <a:off x="2425655" y="1141025"/>
            <a:ext cx="1735025" cy="1735025"/>
          </a:xfrm>
          <a:prstGeom prst="rect">
            <a:avLst/>
          </a:prstGeom>
          <a:noFill/>
          <a:ln>
            <a:noFill/>
          </a:ln>
        </p:spPr>
      </p:pic>
      <p:pic>
        <p:nvPicPr>
          <p:cNvPr id="100" name="Google Shape;100;p18"/>
          <p:cNvPicPr preferRelativeResize="0"/>
          <p:nvPr/>
        </p:nvPicPr>
        <p:blipFill>
          <a:blip r:embed="rId7">
            <a:alphaModFix/>
          </a:blip>
          <a:stretch>
            <a:fillRect/>
          </a:stretch>
        </p:blipFill>
        <p:spPr>
          <a:xfrm>
            <a:off x="7132513" y="1384381"/>
            <a:ext cx="1599975" cy="1390645"/>
          </a:xfrm>
          <a:prstGeom prst="rect">
            <a:avLst/>
          </a:prstGeom>
          <a:noFill/>
          <a:ln>
            <a:noFill/>
          </a:ln>
        </p:spPr>
      </p:pic>
      <p:pic>
        <p:nvPicPr>
          <p:cNvPr id="101" name="Google Shape;101;p18"/>
          <p:cNvPicPr preferRelativeResize="0"/>
          <p:nvPr/>
        </p:nvPicPr>
        <p:blipFill>
          <a:blip r:embed="rId8">
            <a:alphaModFix/>
          </a:blip>
          <a:stretch>
            <a:fillRect/>
          </a:stretch>
        </p:blipFill>
        <p:spPr>
          <a:xfrm>
            <a:off x="6470782" y="3274563"/>
            <a:ext cx="1179730" cy="1390650"/>
          </a:xfrm>
          <a:prstGeom prst="rect">
            <a:avLst/>
          </a:prstGeom>
          <a:noFill/>
          <a:ln>
            <a:noFill/>
          </a:ln>
        </p:spPr>
      </p:pic>
      <p:pic>
        <p:nvPicPr>
          <p:cNvPr id="102" name="Google Shape;102;p18"/>
          <p:cNvPicPr preferRelativeResize="0"/>
          <p:nvPr/>
        </p:nvPicPr>
        <p:blipFill>
          <a:blip r:embed="rId9">
            <a:alphaModFix/>
          </a:blip>
          <a:stretch>
            <a:fillRect/>
          </a:stretch>
        </p:blipFill>
        <p:spPr>
          <a:xfrm>
            <a:off x="4734826" y="1254513"/>
            <a:ext cx="1756013" cy="1650350"/>
          </a:xfrm>
          <a:prstGeom prst="rect">
            <a:avLst/>
          </a:prstGeom>
          <a:noFill/>
          <a:ln>
            <a:noFill/>
          </a:ln>
        </p:spPr>
      </p:pic>
      <p:sp>
        <p:nvSpPr>
          <p:cNvPr id="103" name="Google Shape;103;p18"/>
          <p:cNvSpPr txBox="1"/>
          <p:nvPr/>
        </p:nvSpPr>
        <p:spPr>
          <a:xfrm>
            <a:off x="0" y="2630700"/>
            <a:ext cx="2022900" cy="41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LLM &amp; Tokenizer</a:t>
            </a:r>
            <a:endParaRPr>
              <a:latin typeface="Open Sans"/>
              <a:ea typeface="Open Sans"/>
              <a:cs typeface="Open Sans"/>
              <a:sym typeface="Open Sans"/>
            </a:endParaRPr>
          </a:p>
        </p:txBody>
      </p:sp>
      <p:sp>
        <p:nvSpPr>
          <p:cNvPr id="104" name="Google Shape;104;p18"/>
          <p:cNvSpPr txBox="1"/>
          <p:nvPr/>
        </p:nvSpPr>
        <p:spPr>
          <a:xfrm>
            <a:off x="2425650" y="2630700"/>
            <a:ext cx="2022900" cy="41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Vector/Embedding Database</a:t>
            </a:r>
            <a:endParaRPr>
              <a:latin typeface="Open Sans"/>
              <a:ea typeface="Open Sans"/>
              <a:cs typeface="Open Sans"/>
              <a:sym typeface="Open Sans"/>
            </a:endParaRPr>
          </a:p>
        </p:txBody>
      </p:sp>
      <p:sp>
        <p:nvSpPr>
          <p:cNvPr id="105" name="Google Shape;105;p18"/>
          <p:cNvSpPr txBox="1"/>
          <p:nvPr/>
        </p:nvSpPr>
        <p:spPr>
          <a:xfrm>
            <a:off x="4755950" y="2630700"/>
            <a:ext cx="1734900" cy="48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Vectorize &amp; Index Database</a:t>
            </a:r>
            <a:endParaRPr>
              <a:latin typeface="Open Sans"/>
              <a:ea typeface="Open Sans"/>
              <a:cs typeface="Open Sans"/>
              <a:sym typeface="Open Sans"/>
            </a:endParaRPr>
          </a:p>
        </p:txBody>
      </p:sp>
      <p:sp>
        <p:nvSpPr>
          <p:cNvPr id="106" name="Google Shape;106;p18"/>
          <p:cNvSpPr txBox="1"/>
          <p:nvPr/>
        </p:nvSpPr>
        <p:spPr>
          <a:xfrm>
            <a:off x="7054538" y="2710050"/>
            <a:ext cx="1755900" cy="33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Frontend </a:t>
            </a:r>
            <a:endParaRPr>
              <a:latin typeface="Open Sans"/>
              <a:ea typeface="Open Sans"/>
              <a:cs typeface="Open Sans"/>
              <a:sym typeface="Open Sans"/>
            </a:endParaRPr>
          </a:p>
        </p:txBody>
      </p:sp>
      <p:sp>
        <p:nvSpPr>
          <p:cNvPr id="107" name="Google Shape;107;p18"/>
          <p:cNvSpPr txBox="1"/>
          <p:nvPr/>
        </p:nvSpPr>
        <p:spPr>
          <a:xfrm>
            <a:off x="2739575" y="4553850"/>
            <a:ext cx="18327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Code Development</a:t>
            </a:r>
            <a:endParaRPr>
              <a:latin typeface="Open Sans"/>
              <a:ea typeface="Open Sans"/>
              <a:cs typeface="Open Sans"/>
              <a:sym typeface="Open Sans"/>
            </a:endParaRPr>
          </a:p>
        </p:txBody>
      </p:sp>
      <p:sp>
        <p:nvSpPr>
          <p:cNvPr id="108" name="Google Shape;108;p18"/>
          <p:cNvSpPr txBox="1"/>
          <p:nvPr/>
        </p:nvSpPr>
        <p:spPr>
          <a:xfrm>
            <a:off x="6245925" y="4553850"/>
            <a:ext cx="1796100" cy="21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Run &amp; Fine Tune Model</a:t>
            </a:r>
            <a:endParaRPr>
              <a:latin typeface="Open Sans"/>
              <a:ea typeface="Open Sans"/>
              <a:cs typeface="Open Sans"/>
              <a:sym typeface="Open Sans"/>
            </a:endParaRPr>
          </a:p>
        </p:txBody>
      </p:sp>
      <p:sp>
        <p:nvSpPr>
          <p:cNvPr id="109" name="Google Shape;109;p18"/>
          <p:cNvSpPr txBox="1"/>
          <p:nvPr/>
        </p:nvSpPr>
        <p:spPr>
          <a:xfrm>
            <a:off x="394800" y="1141125"/>
            <a:ext cx="1233300" cy="33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2"/>
                </a:solidFill>
                <a:latin typeface="Open Sans"/>
                <a:ea typeface="Open Sans"/>
                <a:cs typeface="Open Sans"/>
                <a:sym typeface="Open Sans"/>
              </a:rPr>
              <a:t>Hugging Face</a:t>
            </a:r>
            <a:endParaRPr sz="1000">
              <a:solidFill>
                <a:schemeClr val="lt2"/>
              </a:solidFill>
              <a:latin typeface="Open Sans"/>
              <a:ea typeface="Open Sans"/>
              <a:cs typeface="Open Sans"/>
              <a:sym typeface="Open Sans"/>
            </a:endParaRPr>
          </a:p>
        </p:txBody>
      </p:sp>
      <p:sp>
        <p:nvSpPr>
          <p:cNvPr id="110" name="Google Shape;110;p18"/>
          <p:cNvSpPr txBox="1"/>
          <p:nvPr/>
        </p:nvSpPr>
        <p:spPr>
          <a:xfrm>
            <a:off x="2721663" y="1141125"/>
            <a:ext cx="1143000" cy="33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2"/>
                </a:solidFill>
                <a:latin typeface="Open Sans"/>
                <a:ea typeface="Open Sans"/>
                <a:cs typeface="Open Sans"/>
                <a:sym typeface="Open Sans"/>
              </a:rPr>
              <a:t>FAISS</a:t>
            </a:r>
            <a:endParaRPr sz="1000">
              <a:solidFill>
                <a:schemeClr val="lt2"/>
              </a:solidFill>
              <a:latin typeface="Open Sans"/>
              <a:ea typeface="Open Sans"/>
              <a:cs typeface="Open Sans"/>
              <a:sym typeface="Open Sans"/>
            </a:endParaRPr>
          </a:p>
        </p:txBody>
      </p:sp>
      <p:sp>
        <p:nvSpPr>
          <p:cNvPr id="111" name="Google Shape;111;p18"/>
          <p:cNvSpPr txBox="1"/>
          <p:nvPr/>
        </p:nvSpPr>
        <p:spPr>
          <a:xfrm>
            <a:off x="4998350" y="1206500"/>
            <a:ext cx="1068000" cy="21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2"/>
                </a:solidFill>
                <a:latin typeface="Open Sans"/>
                <a:ea typeface="Open Sans"/>
                <a:cs typeface="Open Sans"/>
                <a:sym typeface="Open Sans"/>
              </a:rPr>
              <a:t>LangChain</a:t>
            </a:r>
            <a:endParaRPr sz="1000">
              <a:solidFill>
                <a:schemeClr val="lt2"/>
              </a:solidFill>
              <a:latin typeface="Open Sans"/>
              <a:ea typeface="Open Sans"/>
              <a:cs typeface="Open Sans"/>
              <a:sym typeface="Open Sans"/>
            </a:endParaRPr>
          </a:p>
        </p:txBody>
      </p:sp>
      <p:sp>
        <p:nvSpPr>
          <p:cNvPr id="112" name="Google Shape;112;p18"/>
          <p:cNvSpPr txBox="1"/>
          <p:nvPr/>
        </p:nvSpPr>
        <p:spPr>
          <a:xfrm>
            <a:off x="7456263" y="1141025"/>
            <a:ext cx="952500" cy="27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2"/>
                </a:solidFill>
                <a:latin typeface="Open Sans"/>
                <a:ea typeface="Open Sans"/>
                <a:cs typeface="Open Sans"/>
                <a:sym typeface="Open Sans"/>
              </a:rPr>
              <a:t>React</a:t>
            </a:r>
            <a:endParaRPr sz="1000">
              <a:solidFill>
                <a:schemeClr val="lt2"/>
              </a:solidFill>
              <a:latin typeface="Open Sans"/>
              <a:ea typeface="Open Sans"/>
              <a:cs typeface="Open Sans"/>
              <a:sym typeface="Open Sans"/>
            </a:endParaRPr>
          </a:p>
        </p:txBody>
      </p:sp>
      <p:sp>
        <p:nvSpPr>
          <p:cNvPr id="113" name="Google Shape;113;p18"/>
          <p:cNvSpPr txBox="1"/>
          <p:nvPr/>
        </p:nvSpPr>
        <p:spPr>
          <a:xfrm>
            <a:off x="1812100" y="3041246"/>
            <a:ext cx="834600" cy="33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2"/>
                </a:solidFill>
                <a:latin typeface="Open Sans"/>
                <a:ea typeface="Open Sans"/>
                <a:cs typeface="Open Sans"/>
                <a:sym typeface="Open Sans"/>
              </a:rPr>
              <a:t>GitHub</a:t>
            </a:r>
            <a:endParaRPr sz="1000">
              <a:solidFill>
                <a:schemeClr val="lt2"/>
              </a:solidFill>
              <a:latin typeface="Open Sans"/>
              <a:ea typeface="Open Sans"/>
              <a:cs typeface="Open Sans"/>
              <a:sym typeface="Open Sans"/>
            </a:endParaRPr>
          </a:p>
        </p:txBody>
      </p:sp>
      <p:sp>
        <p:nvSpPr>
          <p:cNvPr id="114" name="Google Shape;114;p18"/>
          <p:cNvSpPr txBox="1"/>
          <p:nvPr/>
        </p:nvSpPr>
        <p:spPr>
          <a:xfrm>
            <a:off x="4036775" y="3374575"/>
            <a:ext cx="1342500" cy="21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2"/>
                </a:solidFill>
                <a:latin typeface="Open Sans"/>
                <a:ea typeface="Open Sans"/>
                <a:cs typeface="Open Sans"/>
                <a:sym typeface="Open Sans"/>
              </a:rPr>
              <a:t>Google Colab</a:t>
            </a:r>
            <a:endParaRPr sz="1000">
              <a:solidFill>
                <a:schemeClr val="lt2"/>
              </a:solidFill>
              <a:latin typeface="Open Sans"/>
              <a:ea typeface="Open Sans"/>
              <a:cs typeface="Open Sans"/>
              <a:sym typeface="Open Sans"/>
            </a:endParaRPr>
          </a:p>
        </p:txBody>
      </p:sp>
      <p:sp>
        <p:nvSpPr>
          <p:cNvPr id="115" name="Google Shape;115;p18"/>
          <p:cNvSpPr txBox="1"/>
          <p:nvPr/>
        </p:nvSpPr>
        <p:spPr>
          <a:xfrm>
            <a:off x="6684150" y="3012175"/>
            <a:ext cx="753000" cy="17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2"/>
                </a:solidFill>
                <a:latin typeface="Open Sans"/>
                <a:ea typeface="Open Sans"/>
                <a:cs typeface="Open Sans"/>
                <a:sym typeface="Open Sans"/>
              </a:rPr>
              <a:t>HPCC</a:t>
            </a:r>
            <a:endParaRPr sz="1000">
              <a:solidFill>
                <a:schemeClr val="lt2"/>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rgbClr val="0D3E7F"/>
                </a:solidFill>
              </a:rPr>
              <a:t>Model &amp; Tool Selection</a:t>
            </a:r>
            <a:endParaRPr>
              <a:solidFill>
                <a:srgbClr val="0D3E7F"/>
              </a:solidFill>
            </a:endParaRPr>
          </a:p>
        </p:txBody>
      </p:sp>
      <p:sp>
        <p:nvSpPr>
          <p:cNvPr id="121" name="Google Shape;121;p19"/>
          <p:cNvSpPr txBox="1"/>
          <p:nvPr>
            <p:ph idx="1" type="body"/>
          </p:nvPr>
        </p:nvSpPr>
        <p:spPr>
          <a:xfrm>
            <a:off x="4762500" y="1328650"/>
            <a:ext cx="3997200" cy="10143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sz="2550">
                <a:solidFill>
                  <a:schemeClr val="lt2"/>
                </a:solidFill>
              </a:rPr>
              <a:t>Facebook AI Similarity Search (FAISS)</a:t>
            </a:r>
            <a:endParaRPr sz="2550">
              <a:solidFill>
                <a:schemeClr val="lt2"/>
              </a:solidFill>
            </a:endParaRPr>
          </a:p>
          <a:p>
            <a:pPr indent="-319087" lvl="0" marL="457200" rtl="0" algn="l">
              <a:spcBef>
                <a:spcPts val="1200"/>
              </a:spcBef>
              <a:spcAft>
                <a:spcPts val="0"/>
              </a:spcAft>
              <a:buSzPct val="100000"/>
              <a:buChar char="●"/>
            </a:pPr>
            <a:r>
              <a:rPr lang="en" sz="2280"/>
              <a:t>Enhance efficiency of data retrieval &amp; processing</a:t>
            </a:r>
            <a:endParaRPr sz="2280"/>
          </a:p>
        </p:txBody>
      </p:sp>
      <p:sp>
        <p:nvSpPr>
          <p:cNvPr id="122" name="Google Shape;122;p19"/>
          <p:cNvSpPr txBox="1"/>
          <p:nvPr/>
        </p:nvSpPr>
        <p:spPr>
          <a:xfrm>
            <a:off x="462650" y="2694225"/>
            <a:ext cx="3701100" cy="18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Open Sans"/>
                <a:ea typeface="Open Sans"/>
                <a:cs typeface="Open Sans"/>
                <a:sym typeface="Open Sans"/>
              </a:rPr>
              <a:t>Falcon 7B</a:t>
            </a:r>
            <a:endParaRPr sz="1800">
              <a:solidFill>
                <a:schemeClr val="dk1"/>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Balance of </a:t>
            </a:r>
            <a:r>
              <a:rPr lang="en">
                <a:solidFill>
                  <a:schemeClr val="dk1"/>
                </a:solidFill>
                <a:latin typeface="Open Sans"/>
                <a:ea typeface="Open Sans"/>
                <a:cs typeface="Open Sans"/>
                <a:sym typeface="Open Sans"/>
              </a:rPr>
              <a:t>performance</a:t>
            </a:r>
            <a:r>
              <a:rPr lang="en">
                <a:solidFill>
                  <a:schemeClr val="dk1"/>
                </a:solidFill>
                <a:latin typeface="Open Sans"/>
                <a:ea typeface="Open Sans"/>
                <a:cs typeface="Open Sans"/>
                <a:sym typeface="Open Sans"/>
              </a:rPr>
              <a:t> &amp; usability </a:t>
            </a:r>
            <a:endParaRPr>
              <a:solidFill>
                <a:schemeClr val="dk1"/>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Meant to be fine tuned</a:t>
            </a:r>
            <a:endParaRPr>
              <a:solidFill>
                <a:schemeClr val="dk1"/>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Open source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sz="1800">
                <a:solidFill>
                  <a:schemeClr val="lt2"/>
                </a:solidFill>
                <a:latin typeface="Open Sans"/>
                <a:ea typeface="Open Sans"/>
                <a:cs typeface="Open Sans"/>
                <a:sym typeface="Open Sans"/>
              </a:rPr>
              <a:t>Tokenizer</a:t>
            </a:r>
            <a:endParaRPr sz="1800">
              <a:solidFill>
                <a:schemeClr val="lt2"/>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Converts data into tokens</a:t>
            </a:r>
            <a:endParaRPr>
              <a:solidFill>
                <a:schemeClr val="dk1"/>
              </a:solidFill>
              <a:latin typeface="Open Sans"/>
              <a:ea typeface="Open Sans"/>
              <a:cs typeface="Open Sans"/>
              <a:sym typeface="Open Sans"/>
            </a:endParaRPr>
          </a:p>
        </p:txBody>
      </p:sp>
      <p:pic>
        <p:nvPicPr>
          <p:cNvPr id="123" name="Google Shape;123;p19"/>
          <p:cNvPicPr preferRelativeResize="0"/>
          <p:nvPr/>
        </p:nvPicPr>
        <p:blipFill>
          <a:blip r:embed="rId3">
            <a:alphaModFix/>
          </a:blip>
          <a:stretch>
            <a:fillRect/>
          </a:stretch>
        </p:blipFill>
        <p:spPr>
          <a:xfrm>
            <a:off x="1447550" y="1147225"/>
            <a:ext cx="1547000" cy="1547000"/>
          </a:xfrm>
          <a:prstGeom prst="rect">
            <a:avLst/>
          </a:prstGeom>
          <a:noFill/>
          <a:ln>
            <a:noFill/>
          </a:ln>
        </p:spPr>
      </p:pic>
      <p:pic>
        <p:nvPicPr>
          <p:cNvPr id="124" name="Google Shape;124;p19"/>
          <p:cNvPicPr preferRelativeResize="0"/>
          <p:nvPr/>
        </p:nvPicPr>
        <p:blipFill>
          <a:blip r:embed="rId4">
            <a:alphaModFix/>
          </a:blip>
          <a:stretch>
            <a:fillRect/>
          </a:stretch>
        </p:blipFill>
        <p:spPr>
          <a:xfrm>
            <a:off x="5750650" y="33075"/>
            <a:ext cx="1397000" cy="1397000"/>
          </a:xfrm>
          <a:prstGeom prst="rect">
            <a:avLst/>
          </a:prstGeom>
          <a:noFill/>
          <a:ln>
            <a:noFill/>
          </a:ln>
        </p:spPr>
      </p:pic>
      <p:pic>
        <p:nvPicPr>
          <p:cNvPr id="125" name="Google Shape;125;p19"/>
          <p:cNvPicPr preferRelativeResize="0"/>
          <p:nvPr/>
        </p:nvPicPr>
        <p:blipFill>
          <a:blip r:embed="rId5">
            <a:alphaModFix/>
          </a:blip>
          <a:stretch>
            <a:fillRect/>
          </a:stretch>
        </p:blipFill>
        <p:spPr>
          <a:xfrm>
            <a:off x="5571149" y="2342949"/>
            <a:ext cx="1646034" cy="1547001"/>
          </a:xfrm>
          <a:prstGeom prst="rect">
            <a:avLst/>
          </a:prstGeom>
          <a:noFill/>
          <a:ln>
            <a:noFill/>
          </a:ln>
        </p:spPr>
      </p:pic>
      <p:sp>
        <p:nvSpPr>
          <p:cNvPr id="126" name="Google Shape;126;p19"/>
          <p:cNvSpPr txBox="1"/>
          <p:nvPr/>
        </p:nvSpPr>
        <p:spPr>
          <a:xfrm>
            <a:off x="4998350" y="3574150"/>
            <a:ext cx="3537900" cy="12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Open Sans"/>
                <a:ea typeface="Open Sans"/>
                <a:cs typeface="Open Sans"/>
                <a:sym typeface="Open Sans"/>
              </a:rPr>
              <a:t>LangChain</a:t>
            </a:r>
            <a:endParaRPr sz="1800">
              <a:solidFill>
                <a:schemeClr val="lt2"/>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Vectorization &amp; Indexing techniques for efficient database </a:t>
            </a:r>
            <a:r>
              <a:rPr lang="en">
                <a:solidFill>
                  <a:schemeClr val="dk1"/>
                </a:solidFill>
                <a:latin typeface="Open Sans"/>
                <a:ea typeface="Open Sans"/>
                <a:cs typeface="Open Sans"/>
                <a:sym typeface="Open Sans"/>
              </a:rPr>
              <a:t>management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rgbClr val="0D3E7F"/>
                </a:solidFill>
              </a:rPr>
              <a:t>Development </a:t>
            </a:r>
            <a:r>
              <a:rPr lang="en">
                <a:solidFill>
                  <a:srgbClr val="0D3E7F"/>
                </a:solidFill>
              </a:rPr>
              <a:t>Environment</a:t>
            </a:r>
            <a:endParaRPr>
              <a:solidFill>
                <a:srgbClr val="0D3E7F"/>
              </a:solidFill>
            </a:endParaRPr>
          </a:p>
        </p:txBody>
      </p:sp>
      <p:sp>
        <p:nvSpPr>
          <p:cNvPr id="132" name="Google Shape;132;p20"/>
          <p:cNvSpPr txBox="1"/>
          <p:nvPr>
            <p:ph idx="1" type="body"/>
          </p:nvPr>
        </p:nvSpPr>
        <p:spPr>
          <a:xfrm>
            <a:off x="311700" y="1878500"/>
            <a:ext cx="3579900" cy="11730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sz="2152">
                <a:solidFill>
                  <a:schemeClr val="lt2"/>
                </a:solidFill>
              </a:rPr>
              <a:t>React</a:t>
            </a:r>
            <a:endParaRPr sz="2152">
              <a:solidFill>
                <a:schemeClr val="lt2"/>
              </a:solidFill>
            </a:endParaRPr>
          </a:p>
          <a:p>
            <a:pPr indent="-317500" lvl="0" marL="457200" rtl="0" algn="l">
              <a:spcBef>
                <a:spcPts val="1200"/>
              </a:spcBef>
              <a:spcAft>
                <a:spcPts val="0"/>
              </a:spcAft>
              <a:buSzPct val="100000"/>
              <a:buChar char="●"/>
            </a:pPr>
            <a:r>
              <a:rPr lang="en" sz="2000"/>
              <a:t>Ensures a user-friendly interface &amp; smooth user experience</a:t>
            </a:r>
            <a:endParaRPr sz="2000"/>
          </a:p>
        </p:txBody>
      </p:sp>
      <p:pic>
        <p:nvPicPr>
          <p:cNvPr id="133" name="Google Shape;133;p20"/>
          <p:cNvPicPr preferRelativeResize="0"/>
          <p:nvPr/>
        </p:nvPicPr>
        <p:blipFill>
          <a:blip r:embed="rId3">
            <a:alphaModFix/>
          </a:blip>
          <a:stretch>
            <a:fillRect/>
          </a:stretch>
        </p:blipFill>
        <p:spPr>
          <a:xfrm>
            <a:off x="1916472" y="1147226"/>
            <a:ext cx="1227378" cy="1066801"/>
          </a:xfrm>
          <a:prstGeom prst="rect">
            <a:avLst/>
          </a:prstGeom>
          <a:noFill/>
          <a:ln>
            <a:noFill/>
          </a:ln>
        </p:spPr>
      </p:pic>
      <p:pic>
        <p:nvPicPr>
          <p:cNvPr id="134" name="Google Shape;134;p20"/>
          <p:cNvPicPr preferRelativeResize="0"/>
          <p:nvPr/>
        </p:nvPicPr>
        <p:blipFill>
          <a:blip r:embed="rId4">
            <a:alphaModFix/>
          </a:blip>
          <a:stretch>
            <a:fillRect/>
          </a:stretch>
        </p:blipFill>
        <p:spPr>
          <a:xfrm>
            <a:off x="1996763" y="2969075"/>
            <a:ext cx="1066799" cy="1066801"/>
          </a:xfrm>
          <a:prstGeom prst="rect">
            <a:avLst/>
          </a:prstGeom>
          <a:noFill/>
          <a:ln>
            <a:noFill/>
          </a:ln>
        </p:spPr>
      </p:pic>
      <p:sp>
        <p:nvSpPr>
          <p:cNvPr id="135" name="Google Shape;135;p20"/>
          <p:cNvSpPr txBox="1"/>
          <p:nvPr/>
        </p:nvSpPr>
        <p:spPr>
          <a:xfrm>
            <a:off x="311700" y="3746475"/>
            <a:ext cx="3579900" cy="10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Open Sans"/>
                <a:ea typeface="Open Sans"/>
                <a:cs typeface="Open Sans"/>
                <a:sym typeface="Open Sans"/>
              </a:rPr>
              <a:t>GitHub</a:t>
            </a:r>
            <a:endParaRPr sz="1800">
              <a:solidFill>
                <a:schemeClr val="lt2"/>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Utilized for version control</a:t>
            </a:r>
            <a:endParaRPr>
              <a:solidFill>
                <a:schemeClr val="dk1"/>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Collaborative code development/</a:t>
            </a:r>
            <a:r>
              <a:rPr lang="en">
                <a:solidFill>
                  <a:schemeClr val="dk1"/>
                </a:solidFill>
                <a:latin typeface="Open Sans"/>
                <a:ea typeface="Open Sans"/>
                <a:cs typeface="Open Sans"/>
                <a:sym typeface="Open Sans"/>
              </a:rPr>
              <a:t>management</a:t>
            </a:r>
            <a:endParaRPr>
              <a:solidFill>
                <a:schemeClr val="dk1"/>
              </a:solidFill>
              <a:latin typeface="Open Sans"/>
              <a:ea typeface="Open Sans"/>
              <a:cs typeface="Open Sans"/>
              <a:sym typeface="Open Sans"/>
            </a:endParaRPr>
          </a:p>
        </p:txBody>
      </p:sp>
      <p:pic>
        <p:nvPicPr>
          <p:cNvPr id="136" name="Google Shape;136;p20"/>
          <p:cNvPicPr preferRelativeResize="0"/>
          <p:nvPr/>
        </p:nvPicPr>
        <p:blipFill>
          <a:blip r:embed="rId5">
            <a:alphaModFix/>
          </a:blip>
          <a:stretch>
            <a:fillRect/>
          </a:stretch>
        </p:blipFill>
        <p:spPr>
          <a:xfrm>
            <a:off x="6675188" y="745512"/>
            <a:ext cx="1735024" cy="1069488"/>
          </a:xfrm>
          <a:prstGeom prst="rect">
            <a:avLst/>
          </a:prstGeom>
          <a:noFill/>
          <a:ln>
            <a:noFill/>
          </a:ln>
        </p:spPr>
      </p:pic>
      <p:sp>
        <p:nvSpPr>
          <p:cNvPr id="137" name="Google Shape;137;p20"/>
          <p:cNvSpPr txBox="1"/>
          <p:nvPr/>
        </p:nvSpPr>
        <p:spPr>
          <a:xfrm>
            <a:off x="5252300" y="1442350"/>
            <a:ext cx="3579900" cy="15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Open Sans"/>
                <a:ea typeface="Open Sans"/>
                <a:cs typeface="Open Sans"/>
                <a:sym typeface="Open Sans"/>
              </a:rPr>
              <a:t>Google Colab</a:t>
            </a:r>
            <a:endParaRPr sz="1800">
              <a:solidFill>
                <a:schemeClr val="lt2"/>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Code development, testing, and updates</a:t>
            </a:r>
            <a:endParaRPr>
              <a:solidFill>
                <a:schemeClr val="dk1"/>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Enables seamless collaboration and real-time code changes</a:t>
            </a:r>
            <a:endParaRPr>
              <a:solidFill>
                <a:schemeClr val="dk1"/>
              </a:solidFill>
              <a:latin typeface="Open Sans"/>
              <a:ea typeface="Open Sans"/>
              <a:cs typeface="Open Sans"/>
              <a:sym typeface="Open Sans"/>
            </a:endParaRPr>
          </a:p>
        </p:txBody>
      </p:sp>
      <p:pic>
        <p:nvPicPr>
          <p:cNvPr id="138" name="Google Shape;138;p20"/>
          <p:cNvPicPr preferRelativeResize="0"/>
          <p:nvPr/>
        </p:nvPicPr>
        <p:blipFill>
          <a:blip r:embed="rId6">
            <a:alphaModFix/>
          </a:blip>
          <a:stretch>
            <a:fillRect/>
          </a:stretch>
        </p:blipFill>
        <p:spPr>
          <a:xfrm>
            <a:off x="6973450" y="2739200"/>
            <a:ext cx="1100027" cy="1296675"/>
          </a:xfrm>
          <a:prstGeom prst="rect">
            <a:avLst/>
          </a:prstGeom>
          <a:noFill/>
          <a:ln>
            <a:noFill/>
          </a:ln>
        </p:spPr>
      </p:pic>
      <p:sp>
        <p:nvSpPr>
          <p:cNvPr id="139" name="Google Shape;139;p20"/>
          <p:cNvSpPr txBox="1"/>
          <p:nvPr/>
        </p:nvSpPr>
        <p:spPr>
          <a:xfrm>
            <a:off x="5252300" y="3693375"/>
            <a:ext cx="3579900" cy="11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Open Sans"/>
                <a:ea typeface="Open Sans"/>
                <a:cs typeface="Open Sans"/>
                <a:sym typeface="Open Sans"/>
              </a:rPr>
              <a:t>TTU HPCC</a:t>
            </a:r>
            <a:endParaRPr sz="1800">
              <a:solidFill>
                <a:schemeClr val="lt2"/>
              </a:solidFill>
              <a:latin typeface="Open Sans"/>
              <a:ea typeface="Open Sans"/>
              <a:cs typeface="Open Sans"/>
              <a:sym typeface="Open Sans"/>
            </a:endParaRPr>
          </a:p>
          <a:p>
            <a:pPr indent="-317500" lvl="0" marL="457200" rtl="0" algn="l">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Utilizes</a:t>
            </a:r>
            <a:r>
              <a:rPr lang="en">
                <a:solidFill>
                  <a:schemeClr val="dk1"/>
                </a:solidFill>
                <a:latin typeface="Open Sans"/>
                <a:ea typeface="Open Sans"/>
                <a:cs typeface="Open Sans"/>
                <a:sym typeface="Open Sans"/>
              </a:rPr>
              <a:t> the power of high-performance computing for complex computations</a:t>
            </a:r>
            <a:endParaRPr>
              <a:solidFill>
                <a:schemeClr val="dk1"/>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solidFill>
                  <a:srgbClr val="0B5394"/>
                </a:solidFill>
              </a:rPr>
              <a:t>Class Diagram</a:t>
            </a:r>
            <a:endParaRPr>
              <a:solidFill>
                <a:srgbClr val="0B5394"/>
              </a:solidFill>
            </a:endParaRPr>
          </a:p>
        </p:txBody>
      </p:sp>
      <p:pic>
        <p:nvPicPr>
          <p:cNvPr id="145" name="Google Shape;145;p21"/>
          <p:cNvPicPr preferRelativeResize="0"/>
          <p:nvPr/>
        </p:nvPicPr>
        <p:blipFill>
          <a:blip r:embed="rId3">
            <a:alphaModFix/>
          </a:blip>
          <a:stretch>
            <a:fillRect/>
          </a:stretch>
        </p:blipFill>
        <p:spPr>
          <a:xfrm>
            <a:off x="1114491" y="1247875"/>
            <a:ext cx="6915017" cy="3691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Use Case Diagram</a:t>
            </a:r>
            <a:endParaRPr>
              <a:solidFill>
                <a:srgbClr val="0B5394"/>
              </a:solidFill>
            </a:endParaRPr>
          </a:p>
        </p:txBody>
      </p:sp>
      <p:pic>
        <p:nvPicPr>
          <p:cNvPr id="151" name="Google Shape;151;p22"/>
          <p:cNvPicPr preferRelativeResize="0"/>
          <p:nvPr/>
        </p:nvPicPr>
        <p:blipFill>
          <a:blip r:embed="rId3">
            <a:alphaModFix/>
          </a:blip>
          <a:stretch>
            <a:fillRect/>
          </a:stretch>
        </p:blipFill>
        <p:spPr>
          <a:xfrm>
            <a:off x="1501700" y="1218900"/>
            <a:ext cx="6251200" cy="36914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Sequence </a:t>
            </a:r>
            <a:r>
              <a:rPr lang="en">
                <a:solidFill>
                  <a:srgbClr val="0B5394"/>
                </a:solidFill>
              </a:rPr>
              <a:t>Diagram</a:t>
            </a:r>
            <a:endParaRPr>
              <a:solidFill>
                <a:srgbClr val="0B5394"/>
              </a:solidFill>
            </a:endParaRPr>
          </a:p>
        </p:txBody>
      </p:sp>
      <p:pic>
        <p:nvPicPr>
          <p:cNvPr id="157" name="Google Shape;157;p23"/>
          <p:cNvPicPr preferRelativeResize="0"/>
          <p:nvPr/>
        </p:nvPicPr>
        <p:blipFill>
          <a:blip r:embed="rId3">
            <a:alphaModFix/>
          </a:blip>
          <a:stretch>
            <a:fillRect/>
          </a:stretch>
        </p:blipFill>
        <p:spPr>
          <a:xfrm>
            <a:off x="1339375" y="1147225"/>
            <a:ext cx="6107949" cy="3843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4"/>
          <p:cNvPicPr preferRelativeResize="0"/>
          <p:nvPr/>
        </p:nvPicPr>
        <p:blipFill>
          <a:blip r:embed="rId3">
            <a:alphaModFix/>
          </a:blip>
          <a:stretch>
            <a:fillRect/>
          </a:stretch>
        </p:blipFill>
        <p:spPr>
          <a:xfrm>
            <a:off x="0" y="0"/>
            <a:ext cx="9143999" cy="5143481"/>
          </a:xfrm>
          <a:prstGeom prst="rect">
            <a:avLst/>
          </a:prstGeom>
          <a:noFill/>
          <a:ln>
            <a:noFill/>
          </a:ln>
        </p:spPr>
      </p:pic>
      <p:sp>
        <p:nvSpPr>
          <p:cNvPr id="163" name="Google Shape;163;p24"/>
          <p:cNvSpPr txBox="1"/>
          <p:nvPr>
            <p:ph type="title"/>
          </p:nvPr>
        </p:nvSpPr>
        <p:spPr>
          <a:xfrm>
            <a:off x="311700" y="4129200"/>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chemeClr val="lt2"/>
                </a:solidFill>
              </a:rPr>
              <a:t>Prototype</a:t>
            </a:r>
            <a:endParaRPr>
              <a:solidFill>
                <a:schemeClr val="lt2"/>
              </a:solidFill>
            </a:endParaRPr>
          </a:p>
        </p:txBody>
      </p:sp>
      <p:cxnSp>
        <p:nvCxnSpPr>
          <p:cNvPr id="164" name="Google Shape;164;p24"/>
          <p:cNvCxnSpPr/>
          <p:nvPr/>
        </p:nvCxnSpPr>
        <p:spPr>
          <a:xfrm flipH="1">
            <a:off x="6569725" y="1950975"/>
            <a:ext cx="1012500" cy="805500"/>
          </a:xfrm>
          <a:prstGeom prst="straightConnector1">
            <a:avLst/>
          </a:prstGeom>
          <a:noFill/>
          <a:ln cap="flat" cmpd="sng" w="38100">
            <a:solidFill>
              <a:schemeClr val="lt2"/>
            </a:solidFill>
            <a:prstDash val="solid"/>
            <a:round/>
            <a:headEnd len="med" w="med" type="none"/>
            <a:tailEnd len="med" w="med" type="triangle"/>
          </a:ln>
        </p:spPr>
      </p:cxnSp>
      <p:cxnSp>
        <p:nvCxnSpPr>
          <p:cNvPr id="165" name="Google Shape;165;p24"/>
          <p:cNvCxnSpPr/>
          <p:nvPr/>
        </p:nvCxnSpPr>
        <p:spPr>
          <a:xfrm>
            <a:off x="1692325" y="3007775"/>
            <a:ext cx="834900" cy="81300"/>
          </a:xfrm>
          <a:prstGeom prst="straightConnector1">
            <a:avLst/>
          </a:prstGeom>
          <a:noFill/>
          <a:ln cap="flat" cmpd="sng" w="38100">
            <a:solidFill>
              <a:schemeClr val="lt2"/>
            </a:solidFill>
            <a:prstDash val="solid"/>
            <a:round/>
            <a:headEnd len="med" w="med" type="none"/>
            <a:tailEnd len="med" w="med" type="triangle"/>
          </a:ln>
        </p:spPr>
      </p:cxnSp>
      <p:sp>
        <p:nvSpPr>
          <p:cNvPr id="166" name="Google Shape;166;p24"/>
          <p:cNvSpPr/>
          <p:nvPr/>
        </p:nvSpPr>
        <p:spPr>
          <a:xfrm>
            <a:off x="2632050" y="3650700"/>
            <a:ext cx="3879900" cy="1027200"/>
          </a:xfrm>
          <a:prstGeom prst="rect">
            <a:avLst/>
          </a:prstGeom>
          <a:solidFill>
            <a:schemeClr val="lt1"/>
          </a:solidFill>
          <a:ln cap="flat" cmpd="sng" w="9525">
            <a:solidFill>
              <a:srgbClr val="0D3E7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cxnSp>
        <p:nvCxnSpPr>
          <p:cNvPr id="167" name="Google Shape;167;p24"/>
          <p:cNvCxnSpPr/>
          <p:nvPr/>
        </p:nvCxnSpPr>
        <p:spPr>
          <a:xfrm rot="10800000">
            <a:off x="6584650" y="4397225"/>
            <a:ext cx="761100" cy="214200"/>
          </a:xfrm>
          <a:prstGeom prst="straightConnector1">
            <a:avLst/>
          </a:prstGeom>
          <a:noFill/>
          <a:ln cap="flat" cmpd="sng" w="38100">
            <a:solidFill>
              <a:schemeClr val="lt2"/>
            </a:solidFill>
            <a:prstDash val="solid"/>
            <a:round/>
            <a:headEnd len="med" w="med" type="none"/>
            <a:tailEnd len="med" w="med" type="triangle"/>
          </a:ln>
        </p:spPr>
      </p:cxnSp>
      <p:sp>
        <p:nvSpPr>
          <p:cNvPr id="168" name="Google Shape;168;p24"/>
          <p:cNvSpPr txBox="1"/>
          <p:nvPr/>
        </p:nvSpPr>
        <p:spPr>
          <a:xfrm>
            <a:off x="7271850" y="1389375"/>
            <a:ext cx="1152900" cy="5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2"/>
                </a:solidFill>
                <a:latin typeface="Open Sans"/>
                <a:ea typeface="Open Sans"/>
                <a:cs typeface="Open Sans"/>
                <a:sym typeface="Open Sans"/>
              </a:rPr>
              <a:t>Question Box</a:t>
            </a:r>
            <a:endParaRPr b="1">
              <a:solidFill>
                <a:schemeClr val="lt2"/>
              </a:solidFill>
              <a:latin typeface="Open Sans"/>
              <a:ea typeface="Open Sans"/>
              <a:cs typeface="Open Sans"/>
              <a:sym typeface="Open Sans"/>
            </a:endParaRPr>
          </a:p>
        </p:txBody>
      </p:sp>
      <p:sp>
        <p:nvSpPr>
          <p:cNvPr id="169" name="Google Shape;169;p24"/>
          <p:cNvSpPr txBox="1"/>
          <p:nvPr/>
        </p:nvSpPr>
        <p:spPr>
          <a:xfrm>
            <a:off x="125625" y="2387075"/>
            <a:ext cx="1631700" cy="5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2"/>
                </a:solidFill>
                <a:latin typeface="Open Sans"/>
                <a:ea typeface="Open Sans"/>
                <a:cs typeface="Open Sans"/>
                <a:sym typeface="Open Sans"/>
              </a:rPr>
              <a:t>Prompt Engineering Tips Dropdown</a:t>
            </a:r>
            <a:endParaRPr b="1">
              <a:solidFill>
                <a:schemeClr val="lt2"/>
              </a:solidFill>
              <a:latin typeface="Open Sans"/>
              <a:ea typeface="Open Sans"/>
              <a:cs typeface="Open Sans"/>
              <a:sym typeface="Open Sans"/>
            </a:endParaRPr>
          </a:p>
        </p:txBody>
      </p:sp>
      <p:sp>
        <p:nvSpPr>
          <p:cNvPr id="170" name="Google Shape;170;p24"/>
          <p:cNvSpPr txBox="1"/>
          <p:nvPr/>
        </p:nvSpPr>
        <p:spPr>
          <a:xfrm>
            <a:off x="7345750" y="4471125"/>
            <a:ext cx="1152900" cy="5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2"/>
                </a:solidFill>
                <a:latin typeface="Open Sans"/>
                <a:ea typeface="Open Sans"/>
                <a:cs typeface="Open Sans"/>
                <a:sym typeface="Open Sans"/>
              </a:rPr>
              <a:t>Answer</a:t>
            </a:r>
            <a:endParaRPr b="1">
              <a:solidFill>
                <a:schemeClr val="lt2"/>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a:solidFill>
                  <a:srgbClr val="0B5394"/>
                </a:solidFill>
              </a:rPr>
              <a:t>End Of Slides</a:t>
            </a:r>
            <a:endParaRPr>
              <a:solidFill>
                <a:srgbClr val="0B5394"/>
              </a:solidFill>
            </a:endParaRPr>
          </a:p>
        </p:txBody>
      </p:sp>
      <p:sp>
        <p:nvSpPr>
          <p:cNvPr id="176" name="Google Shape;176;p25"/>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800"/>
              <a:buNone/>
            </a:pPr>
            <a:r>
              <a:rPr lang="en"/>
              <a:t>https://karltonh.github.io/Rollingthunder_ttu/#/</a:t>
            </a:r>
            <a:endParaRPr/>
          </a:p>
          <a:p>
            <a:pPr indent="0" lvl="0" marL="457200" rtl="0" algn="l">
              <a:lnSpc>
                <a:spcPct val="115000"/>
              </a:lnSpc>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rPr lang="en">
                <a:solidFill>
                  <a:schemeClr val="dk1"/>
                </a:solidFill>
              </a:rPr>
              <a:t>“🤗 PEFT.” GitHub, 18 May 2023, github.com/huggingface/peft.</a:t>
            </a:r>
            <a:endParaRPr>
              <a:solidFill>
                <a:schemeClr val="dk1"/>
              </a:solidFill>
            </a:endParaRPr>
          </a:p>
          <a:p>
            <a:pPr indent="0" lvl="0" marL="457200" rtl="0" algn="l">
              <a:lnSpc>
                <a:spcPct val="115000"/>
              </a:lnSpc>
              <a:spcBef>
                <a:spcPts val="1200"/>
              </a:spcBef>
              <a:spcAft>
                <a:spcPts val="1200"/>
              </a:spcAft>
              <a:buSzPts val="1800"/>
              <a:buNone/>
            </a:pPr>
            <a:r>
              <a:rPr lang="en"/>
              <a:t>“balapv.“</a:t>
            </a:r>
            <a:r>
              <a:rPr lang="en">
                <a:solidFill>
                  <a:schemeClr val="dk1"/>
                </a:solidFill>
              </a:rPr>
              <a:t> Retrieval Augmented Generation Using Azure Machine Learning Prompt Flow (Preview) - Azure Machine Learning.” Learn.microsoft.com, 31 July 2023, learn.microsoft.com/en-us/azure/machine-learning/concept-retrieval-augmented-generation?view=azureml-api-2. </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